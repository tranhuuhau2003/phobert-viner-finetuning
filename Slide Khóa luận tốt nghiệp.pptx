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x="18288000" cy="10287000"/>
  <p:notesSz cx="6858000" cy="9144000"/>
  <p:embeddedFontLst>
    <p:embeddedFont>
      <p:font typeface="Roboto Bold" charset="1" panose="02000000000000000000"/>
      <p:regular r:id="rId46"/>
    </p:embeddedFont>
    <p:embeddedFont>
      <p:font typeface="Roboto" charset="1" panose="02000000000000000000"/>
      <p:regular r:id="rId47"/>
    </p:embeddedFont>
    <p:embeddedFont>
      <p:font typeface="Open Sans Bold" charset="1" panose="020B0806030504020204"/>
      <p:regular r:id="rId63"/>
    </p:embeddedFont>
    <p:embeddedFont>
      <p:font typeface="Garet Bold" charset="1" panose="00000000000000000000"/>
      <p:regular r:id="rId7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fonts/font46.fntdata" Type="http://schemas.openxmlformats.org/officeDocument/2006/relationships/font"/><Relationship Id="rId47" Target="fonts/font47.fntdata" Type="http://schemas.openxmlformats.org/officeDocument/2006/relationships/font"/><Relationship Id="rId48" Target="notesMasters/notesMaster1.xml" Type="http://schemas.openxmlformats.org/officeDocument/2006/relationships/notesMaster"/><Relationship Id="rId49" Target="theme/theme2.xml" Type="http://schemas.openxmlformats.org/officeDocument/2006/relationships/theme"/><Relationship Id="rId5" Target="tableStyles.xml" Type="http://schemas.openxmlformats.org/officeDocument/2006/relationships/tableStyles"/><Relationship Id="rId50" Target="notesSlides/notesSlide1.xml" Type="http://schemas.openxmlformats.org/officeDocument/2006/relationships/notesSlide"/><Relationship Id="rId51" Target="notesSlides/notesSlide2.xml" Type="http://schemas.openxmlformats.org/officeDocument/2006/relationships/notesSlide"/><Relationship Id="rId52" Target="notesSlides/notesSlide3.xml" Type="http://schemas.openxmlformats.org/officeDocument/2006/relationships/notesSlide"/><Relationship Id="rId53" Target="notesSlides/notesSlide4.xml" Type="http://schemas.openxmlformats.org/officeDocument/2006/relationships/notesSlide"/><Relationship Id="rId54" Target="notesSlides/notesSlide5.xml" Type="http://schemas.openxmlformats.org/officeDocument/2006/relationships/notesSlide"/><Relationship Id="rId55" Target="notesSlides/notesSlide6.xml" Type="http://schemas.openxmlformats.org/officeDocument/2006/relationships/notesSlide"/><Relationship Id="rId56" Target="notesSlides/notesSlide7.xml" Type="http://schemas.openxmlformats.org/officeDocument/2006/relationships/notesSlide"/><Relationship Id="rId57" Target="notesSlides/notesSlide8.xml" Type="http://schemas.openxmlformats.org/officeDocument/2006/relationships/notesSlide"/><Relationship Id="rId58" Target="notesSlides/notesSlide9.xml" Type="http://schemas.openxmlformats.org/officeDocument/2006/relationships/notesSlide"/><Relationship Id="rId59" Target="notesSlides/notesSlide10.xml" Type="http://schemas.openxmlformats.org/officeDocument/2006/relationships/notesSlide"/><Relationship Id="rId6" Target="slides/slide1.xml" Type="http://schemas.openxmlformats.org/officeDocument/2006/relationships/slide"/><Relationship Id="rId60" Target="notesSlides/notesSlide11.xml" Type="http://schemas.openxmlformats.org/officeDocument/2006/relationships/notesSlide"/><Relationship Id="rId61" Target="notesSlides/notesSlide12.xml" Type="http://schemas.openxmlformats.org/officeDocument/2006/relationships/notesSlide"/><Relationship Id="rId62" Target="notesSlides/notesSlide13.xml" Type="http://schemas.openxmlformats.org/officeDocument/2006/relationships/notesSlide"/><Relationship Id="rId63" Target="fonts/font63.fntdata" Type="http://schemas.openxmlformats.org/officeDocument/2006/relationships/font"/><Relationship Id="rId64" Target="notesSlides/notesSlide14.xml" Type="http://schemas.openxmlformats.org/officeDocument/2006/relationships/notesSlide"/><Relationship Id="rId65" Target="notesSlides/notesSlide15.xml" Type="http://schemas.openxmlformats.org/officeDocument/2006/relationships/notesSlide"/><Relationship Id="rId66" Target="notesSlides/notesSlide16.xml" Type="http://schemas.openxmlformats.org/officeDocument/2006/relationships/notesSlide"/><Relationship Id="rId67" Target="notesSlides/notesSlide17.xml" Type="http://schemas.openxmlformats.org/officeDocument/2006/relationships/notesSlide"/><Relationship Id="rId68" Target="notesSlides/notesSlide18.xml" Type="http://schemas.openxmlformats.org/officeDocument/2006/relationships/notesSlide"/><Relationship Id="rId69" Target="notesSlides/notesSlide19.xml" Type="http://schemas.openxmlformats.org/officeDocument/2006/relationships/notesSlide"/><Relationship Id="rId7" Target="slides/slide2.xml" Type="http://schemas.openxmlformats.org/officeDocument/2006/relationships/slide"/><Relationship Id="rId70" Target="notesSlides/notesSlide20.xml" Type="http://schemas.openxmlformats.org/officeDocument/2006/relationships/notesSlide"/><Relationship Id="rId71" Target="notesSlides/notesSlide21.xml" Type="http://schemas.openxmlformats.org/officeDocument/2006/relationships/notesSlide"/><Relationship Id="rId72" Target="notesSlides/notesSlide22.xml" Type="http://schemas.openxmlformats.org/officeDocument/2006/relationships/notesSlide"/><Relationship Id="rId73" Target="notesSlides/notesSlide23.xml" Type="http://schemas.openxmlformats.org/officeDocument/2006/relationships/notesSlide"/><Relationship Id="rId74" Target="notesSlides/notesSlide24.xml" Type="http://schemas.openxmlformats.org/officeDocument/2006/relationships/notesSlide"/><Relationship Id="rId75" Target="notesSlides/notesSlide25.xml" Type="http://schemas.openxmlformats.org/officeDocument/2006/relationships/notesSlide"/><Relationship Id="rId76" Target="notesSlides/notesSlide26.xml" Type="http://schemas.openxmlformats.org/officeDocument/2006/relationships/notesSlide"/><Relationship Id="rId77" Target="fonts/font77.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Thứ nhất: </a:t>
            </a:r>
          </a:p>
          <a:p>
            <a:r>
              <a:rPr lang="en-US"/>
              <a:t>NER (Named Entity Recognition):</a:t>
            </a:r>
          </a:p>
          <a:p>
            <a:r>
              <a:rPr lang="en-US"/>
              <a:t>Là bài toán xác định và phân loại các thực thể có tên trong văn bản, ví dụ như tên người, địa điểm, tổ chức.</a:t>
            </a:r>
          </a:p>
          <a:p>
            <a:r>
              <a:rPr lang="en-US"/>
              <a:t/>
            </a:r>
          </a:p>
          <a:p>
            <a:r>
              <a:rPr lang="en-US"/>
              <a:t>Tại sao NER quan trọng?</a:t>
            </a:r>
          </a:p>
          <a:p>
            <a:r>
              <a:rPr lang="en-US"/>
              <a:t>Là nền tảng cho nhiều ứng dụng NLP như chatbot, tìm kiếm thông tin, phân tích dữ liệu văn bản, trích xuất dữ liệu từ báo chí.</a:t>
            </a:r>
          </a:p>
          <a:p>
            <a:r>
              <a:rPr lang="en-US"/>
              <a:t/>
            </a:r>
          </a:p>
          <a:p>
            <a:r>
              <a:rPr lang="en-US"/>
              <a:t>“Ví dụ, trong câu ‘Ông Nguyễn Văn A làm việc tại Hà Nội’, NER sẽ xác định ‘Nguyễn Văn A’ là tên người, ‘Hà Nội’ là địa danh.”</a:t>
            </a:r>
          </a:p>
          <a:p>
            <a:r>
              <a:rPr lang="en-US"/>
              <a:t/>
            </a:r>
          </a:p>
          <a:p>
            <a:r>
              <a:rPr lang="en-US"/>
              <a:t>Thứ hai: Tiếng Việt là một ngôn ngữ có cấu trúc đặc thù, dữ liệu và công cụ hỗ trợ còn hạn chế.</a:t>
            </a:r>
          </a:p>
          <a:p>
            <a:r>
              <a:rPr lang="en-US"/>
              <a:t/>
            </a:r>
          </a:p>
          <a:p>
            <a:r>
              <a:rPr lang="en-US"/>
              <a:t>Dùng dấu và thanh điệu, từ ghép, đa nghĩa.</a:t>
            </a:r>
          </a:p>
          <a:p>
            <a:r>
              <a:rPr lang="en-US"/>
              <a:t/>
            </a:r>
          </a:p>
          <a:p>
            <a:r>
              <a:rPr lang="en-US"/>
              <a:t>Thêm vào đó, tài nguyên như tập dữ liệu lớn, công cụ gán nhãn, thư viện NLP dành riêng cho tiếng Việt vẫn còn rất hạn chế.</a:t>
            </a:r>
          </a:p>
          <a:p>
            <a:r>
              <a:rPr lang="en-US"/>
              <a:t/>
            </a:r>
          </a:p>
          <a:p>
            <a:r>
              <a:rPr lang="en-US"/>
              <a:t>Thứ ba: PhoBERT là mô hình ngôn ngữ mạnh, được thiết kế riêng cho tiếng Việt.</a:t>
            </a:r>
          </a:p>
          <a:p>
            <a:r>
              <a:rPr lang="en-US"/>
              <a:t/>
            </a:r>
          </a:p>
          <a:p>
            <a:r>
              <a:rPr lang="en-US"/>
              <a:t>PhoBERT huấn luyện trên tập dữ liệu tiếng Việt lớn.</a:t>
            </a:r>
          </a:p>
          <a:p>
            <a:r>
              <a:rPr lang="en-US"/>
              <a:t/>
            </a:r>
          </a:p>
          <a:p>
            <a:r>
              <a:rPr lang="en-US"/>
              <a:t>Hiểu tốt ngữ cảnh tiếng Việt, tận dụng dữ liệu lớn thu thập từ web.</a:t>
            </a:r>
          </a:p>
          <a:p>
            <a:r>
              <a:rPr lang="en-US"/>
              <a:t/>
            </a:r>
          </a:p>
          <a:p>
            <a:r>
              <a:rPr lang="en-US"/>
              <a:t>Cho kết quả NER tốt hơn so với các mô hình truyền thống.</a:t>
            </a:r>
          </a:p>
          <a:p>
            <a:r>
              <a:rPr lang="en-US"/>
              <a:t/>
            </a:r>
          </a:p>
          <a:p>
            <a:r>
              <a:rPr lang="en-US"/>
              <a:t>Xuất phát từ những vấn đề trên, chúng em lựa chọn đề tài này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Tiếp theo, em xin trình bày phần mục tiêu nghiên cứu của khóa luận</a:t>
            </a:r>
          </a:p>
          <a:p>
            <a:r>
              <a:rPr lang="en-US"/>
              <a:t/>
            </a:r>
          </a:p>
          <a:p>
            <a:r>
              <a:rPr lang="en-US"/>
              <a:t>1. Tìm hiểu mô hình PhoBERT và cách nó có thể ứng dụng vào bài toán nhận dạng thực thể có tên trong tiếng Việt.</a:t>
            </a:r>
          </a:p>
          <a:p>
            <a:r>
              <a:rPr lang="en-US"/>
              <a:t/>
            </a:r>
          </a:p>
          <a:p>
            <a:r>
              <a:rPr lang="en-US"/>
              <a:t>Tìm hiểu PhoBERT:</a:t>
            </a:r>
          </a:p>
          <a:p>
            <a:r>
              <a:rPr lang="en-US"/>
              <a:t/>
            </a:r>
          </a:p>
          <a:p>
            <a:r>
              <a:rPr lang="en-US"/>
              <a:t>PhoBERT là mô hình “tiền huấn luyện” cho tiếng Việt, xây dựng dựa trên kiến trúc BERT.</a:t>
            </a:r>
          </a:p>
          <a:p>
            <a:r>
              <a:rPr lang="en-US"/>
              <a:t/>
            </a:r>
          </a:p>
          <a:p>
            <a:r>
              <a:rPr lang="en-US"/>
              <a:t>Không dùng PhoBERT “nguyên bản”, mà tiếp tục huấn luyện nó trên dữ liệu NER tiếng Việt.</a:t>
            </a:r>
          </a:p>
          <a:p>
            <a:r>
              <a:rPr lang="en-US"/>
              <a:t/>
            </a:r>
          </a:p>
          <a:p>
            <a:r>
              <a:rPr lang="en-US"/>
              <a:t>Tinh chỉnh giúp mô hình “học” cách nhận diện thực thể trong văn bản tiếng Việt cụ thể hơn.</a:t>
            </a:r>
          </a:p>
          <a:p>
            <a:r>
              <a:rPr lang="en-US"/>
              <a:t/>
            </a:r>
          </a:p>
          <a:p>
            <a:r>
              <a:rPr lang="en-US"/>
              <a:t>2. </a:t>
            </a:r>
          </a:p>
          <a:p>
            <a:r>
              <a:rPr lang="en-US"/>
              <a:t>Tiền xử lý dữ liệu văn bản tiếng Việt.</a:t>
            </a:r>
          </a:p>
          <a:p>
            <a:r>
              <a:rPr lang="en-US"/>
              <a:t/>
            </a:r>
          </a:p>
          <a:p>
            <a:r>
              <a:rPr lang="en-US"/>
              <a:t>Sử dụng PhoBERT đã tinh chỉnh để dự đoán các thực thể có tên (NER).</a:t>
            </a:r>
          </a:p>
          <a:p>
            <a:r>
              <a:rPr lang="en-US"/>
              <a:t/>
            </a:r>
          </a:p>
          <a:p>
            <a:r>
              <a:rPr lang="en-US"/>
              <a:t>3.</a:t>
            </a:r>
          </a:p>
          <a:p>
            <a:r>
              <a:rPr lang="en-US"/>
              <a:t>Đánh giá hiệu quả mô hình bằng các chỉ số chuẩn như Precision, Recall và F1-score, từ đó phân tích điểm mạnh và hạn chế. </a:t>
            </a:r>
          </a:p>
          <a:p>
            <a:r>
              <a:rPr lang="en-US"/>
              <a:t/>
            </a:r>
          </a:p>
          <a:p>
            <a:r>
              <a:rPr lang="en-US"/>
              <a:t>Cuối cùng là so sánh với mô hình Roberta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Tập dữ liệu PhoNER_COVID19:</a:t>
            </a:r>
          </a:p>
          <a:p>
            <a:r>
              <a:rPr lang="en-US"/>
              <a:t>Chúng em sử dụng tập dữ liệu chuyên biệt trong lĩnh vực y tế, được gán nhãn sẵn theo định dạng BIO, gồm nhiều loại thực thể như bệnh, tên người, tổ chức, thời gian,...</a:t>
            </a:r>
          </a:p>
          <a:p>
            <a:r>
              <a:rPr lang="en-US"/>
              <a:t/>
            </a:r>
          </a:p>
          <a:p>
            <a:r>
              <a:rPr lang="en-US"/>
              <a:t>2. Tiền xử lý dữ liệu:</a:t>
            </a:r>
          </a:p>
          <a:p>
            <a:r>
              <a:rPr lang="en-US"/>
              <a:t>Dữ liệu được làm sạch, chuẩn hóa và token hóa phù hợp với đầu vào của PhoBERT.</a:t>
            </a:r>
          </a:p>
          <a:p>
            <a:r>
              <a:rPr lang="en-US"/>
              <a:t/>
            </a:r>
          </a:p>
          <a:p>
            <a:r>
              <a:rPr lang="en-US"/>
              <a:t>3. Huấn luyện mô hình: Mô hình PhoBERT được tinh chỉnh trên tập huấn luyện</a:t>
            </a:r>
          </a:p>
          <a:p>
            <a:r>
              <a:rPr lang="en-US"/>
              <a:t>Để huấn luyện mô hình, nhóm em sử dụng thư viện HuggingFace Transformers kết hợp với Trainer, giúp đơn giản hóa toàn bộ quy trình huấn luyện, đánh giá và theo dõi mô hình.</a:t>
            </a:r>
          </a:p>
          <a:p>
            <a:r>
              <a:rPr lang="en-US"/>
              <a:t/>
            </a:r>
          </a:p>
          <a:p>
            <a:r>
              <a:rPr lang="en-US"/>
              <a:t>4. Đánh giá mô hình:</a:t>
            </a:r>
          </a:p>
          <a:p>
            <a:r>
              <a:rPr lang="en-US"/>
              <a:t>Mô hình được đánh giá bằng các chỉ số như Precision, Recall và F1-score trên tập kiểm thử.</a:t>
            </a:r>
          </a:p>
          <a:p>
            <a:r>
              <a:rPr lang="en-US"/>
              <a:t/>
            </a:r>
          </a:p>
          <a:p>
            <a:r>
              <a:rPr lang="en-US"/>
              <a:t>5. Triển khai dự đoán:</a:t>
            </a:r>
          </a:p>
          <a:p>
            <a:r>
              <a:rPr lang="en-US"/>
              <a:t>mô hình đã được huấn luyện được sử dụng để dự đoán thực thể trên các câu văn mới, kiểm nghiệm khả năng hoạt động thực tế.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NLP (Natural Language Processing) là lĩnh vực trí tuệ nhân tạo giúp máy tính hiểu, phân tích và tạo ra ngôn ngữ tự nhiên</a:t>
            </a:r>
          </a:p>
          <a:p>
            <a:r>
              <a:rPr lang="en-US"/>
              <a:t/>
            </a:r>
          </a:p>
          <a:p>
            <a:r>
              <a:rPr lang="en-US"/>
              <a:t>Là cầu nối giữa ngôn ngữ con người và máy tính.</a:t>
            </a:r>
          </a:p>
          <a:p>
            <a:r>
              <a:rPr lang="en-US"/>
              <a:t/>
            </a:r>
          </a:p>
          <a:p>
            <a:r>
              <a:rPr lang="en-US"/>
              <a:t>Trên màn hình, chúng ta thấy một hình ảnh minh hoạ trực quan với một nhân vật nữ đang giao tiếp cùng máy tính. </a:t>
            </a:r>
          </a:p>
          <a:p>
            <a:r>
              <a:rPr lang="en-US"/>
              <a:t/>
            </a:r>
          </a:p>
          <a:p>
            <a:r>
              <a:rPr lang="en-US"/>
              <a:t>Đây chính là một ví dụ điển hình cho khả năng của xử lý ngôn ngữ tự nhiên giúp máy tính hiểu, diễn giải và phản hồi ngôn ngữ của con người.</a:t>
            </a:r>
          </a:p>
          <a:p>
            <a:r>
              <a:rPr lang="en-US"/>
              <a:t/>
            </a:r>
          </a:p>
          <a:p>
            <a:r>
              <a:rPr lang="en-US"/>
              <a:t>Các ứng dụng điển hình của NLP trong đời sống hiện nay bao gồm:  </a:t>
            </a:r>
          </a:p>
          <a:p>
            <a:r>
              <a:rPr lang="en-US"/>
              <a:t>- Phân tích văn bản đăng một bài review trên Facebook, nhận biết cảm xúc  là tích cực hay tiêu cực để đề xuất cho người khác.</a:t>
            </a:r>
          </a:p>
          <a:p>
            <a:r>
              <a:rPr lang="en-US"/>
              <a:t>- Nhận dạng giọng nói Khi bạn nói “Hey Siri” , </a:t>
            </a:r>
          </a:p>
          <a:p>
            <a:r>
              <a:rPr lang="en-US"/>
              <a:t>- Dịch máy Google Dịch,         </a:t>
            </a:r>
          </a:p>
          <a:p>
            <a:r>
              <a:rPr lang="en-US"/>
              <a:t>- Chatbot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NER (Named Entity Recognition) là kỹ thuật giúp máy tính tự động tìm và phân loại các thực thể quan trọng trong văn bản, như tên người, tổ chức, địa điểm, ngày tháng…</a:t>
            </a:r>
          </a:p>
          <a:p>
            <a:r>
              <a:rPr lang="en-US"/>
              <a:t/>
            </a:r>
          </a:p>
          <a:p>
            <a:r>
              <a:rPr lang="en-US"/>
              <a:t>Mục đích: Biến các thông tin phi cấu trúc (chữ, câu) thành thông tin có cấu trúc </a:t>
            </a:r>
          </a:p>
          <a:p>
            <a:r>
              <a:rPr lang="en-US"/>
              <a:t/>
            </a:r>
          </a:p>
          <a:p>
            <a:r>
              <a:rPr lang="en-US"/>
              <a:t>Nhiệm vụ của NER là tìm và phân loại những thực thể có trong văn bản như: </a:t>
            </a:r>
          </a:p>
          <a:p>
            <a:r>
              <a:rPr lang="en-US"/>
              <a:t>+ Tên người (Person) </a:t>
            </a:r>
          </a:p>
          <a:p>
            <a:r>
              <a:rPr lang="en-US"/>
              <a:t>+ Tên tổ chức (Organization) </a:t>
            </a:r>
          </a:p>
          <a:p>
            <a:r>
              <a:rPr lang="en-US"/>
              <a:t>+ Tên địa điểm (Location)</a:t>
            </a:r>
          </a:p>
          <a:p>
            <a:r>
              <a:rPr lang="en-US"/>
              <a:t/>
            </a:r>
          </a:p>
          <a:p>
            <a:r>
              <a:rPr lang="en-US"/>
              <a:t>đọc vd trên 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Trong bài toán NER, thực thể sẽ phân loại thành nhiều nhóm dựa trên bản chất và vai trò của chúng trong văn bản. </a:t>
            </a:r>
          </a:p>
          <a:p>
            <a:r>
              <a:rPr lang="en-US"/>
              <a:t>1.	PER (Person - Tên người)</a:t>
            </a:r>
          </a:p>
          <a:p>
            <a:r>
              <a:rPr lang="en-US"/>
              <a:t>2.	ORG (Organization - Tổ chức)</a:t>
            </a:r>
          </a:p>
          <a:p>
            <a:r>
              <a:rPr lang="en-US"/>
              <a:t>3.	LOC (Location - Địa danh)</a:t>
            </a:r>
          </a:p>
          <a:p>
            <a:r>
              <a:rPr lang="en-US"/>
              <a:t>4.	TIME/DATE (Thời gian, ngày tháng)</a:t>
            </a:r>
          </a:p>
          <a:p>
            <a:r>
              <a:rPr lang="en-US"/>
              <a:t/>
            </a:r>
          </a:p>
          <a:p>
            <a:r>
              <a:rPr lang="en-US"/>
              <a:t>bài toán NER còn có thể mở rộng theo từng lĩnh vực, chẳng hạn trong lĩnh vực y tế, bài toán NER sẽ cần xác định được các thực thể đặc thù như:</a:t>
            </a:r>
          </a:p>
          <a:p>
            <a:r>
              <a:rPr lang="en-US"/>
              <a:t>Tên bệnh (DISEASE)</a:t>
            </a:r>
          </a:p>
          <a:p>
            <a:r>
              <a:rPr lang="en-US"/>
              <a:t>Triệu chứng (SYMPTOM)</a:t>
            </a:r>
          </a:p>
          <a:p>
            <a:r>
              <a:rPr lang="en-US"/>
              <a:t>Loại thuốc (DRUG)</a:t>
            </a:r>
          </a:p>
          <a:p>
            <a:r>
              <a:rPr lang="en-US"/>
              <a:t>Liệu pháp điều trị (TREATMENT)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NER đóng vai trò là lớp trích xuất thông tin cơ bản, làm nền cho rất nhiều ứng dụng xử lý ngôn ngữ tự nhiên hiện đại, từ chatbot, tìm kiếm, đến phân tích dữ liệu chuyên sâu.</a:t>
            </a:r>
          </a:p>
          <a:p>
            <a:r>
              <a:rPr lang="en-US"/>
              <a:t/>
            </a:r>
          </a:p>
          <a:p>
            <a:r>
              <a:rPr lang="en-US"/>
              <a:t>Ứng dụng thực tế của NER có trong nhiều lĩnh vực như: </a:t>
            </a:r>
          </a:p>
          <a:p>
            <a:r>
              <a:rPr lang="en-US"/>
              <a:t>Truyền thông và báo chí</a:t>
            </a:r>
          </a:p>
          <a:p>
            <a:r>
              <a:rPr lang="en-US"/>
              <a:t>Y tế, sức khỏe</a:t>
            </a:r>
          </a:p>
          <a:p>
            <a:r>
              <a:rPr lang="en-US"/>
              <a:t>Tài chính - ngân hàng</a:t>
            </a:r>
          </a:p>
          <a:p>
            <a:r>
              <a:rPr lang="en-US"/>
              <a:t/>
            </a:r>
          </a:p>
          <a:p>
            <a:r>
              <a:rPr lang="en-US"/>
              <a:t/>
            </a:r>
          </a:p>
          <a:p>
            <a:r>
              <a:rPr lang="en-US"/>
              <a:t>1 số ứng dụng cụ thể như </a:t>
            </a:r>
          </a:p>
          <a:p>
            <a:r>
              <a:rPr lang="en-US"/>
              <a:t>- Trích xuất thông tin trích xuất tên bệnh nhân, bác sĩ</a:t>
            </a:r>
          </a:p>
          <a:p>
            <a:r>
              <a:rPr lang="en-US"/>
              <a:t>- Hỏi đáp “Tôi muốn biết số dư tài khoản của Nguyễn Văn B?”, hệ thống chatbot sẽ nhận diện “Nguyễn Văn B” </a:t>
            </a:r>
          </a:p>
          <a:p>
            <a:r>
              <a:rPr lang="en-US"/>
              <a:t>- Phân loại văn bản bài báo liên quan đến “Vingroup”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Mô hình ngôn ngữ lớn (Large Language Model - LLM) là một loại mô hình được huấn luyện trên lượng dữ liệu ngôn ngữ khổng lồ nhằm học biểu diễn ngôn ngữ và hiểu ngữ cảnh ở mức độ sâu sắc.</a:t>
            </a:r>
          </a:p>
          <a:p>
            <a:r>
              <a:rPr lang="en-US"/>
              <a:t/>
            </a:r>
          </a:p>
          <a:p>
            <a:r>
              <a:rPr lang="en-US"/>
              <a:t>LÀ loại mô hình cho phép người dùng nhập ào 1 văn bản với nội dung bất kỳ, thường sẽ là các yêu cầu hoặc câu hỏi</a:t>
            </a:r>
          </a:p>
          <a:p>
            <a:r>
              <a:rPr lang="en-US"/>
              <a:t>Mô hình sẽ trả về câu trả lời dưới dạng văn bản thỏa mãn yêu cầu của người dùng</a:t>
            </a:r>
          </a:p>
          <a:p>
            <a:r>
              <a:rPr lang="en-US"/>
              <a:t/>
            </a:r>
          </a:p>
          <a:p>
            <a:r>
              <a:rPr lang="en-US"/>
              <a:t>Các mô hình LLM có khả năng dự đoán từ kế tiếp  Khi bạn nhắn tin trên điện thoại và hệ thống tự động gợi ý từ tiếp theo, </a:t>
            </a:r>
          </a:p>
          <a:p>
            <a:r>
              <a:rPr lang="en-US"/>
              <a:t>- sinh văn bản, </a:t>
            </a:r>
          </a:p>
          <a:p>
            <a:r>
              <a:rPr lang="en-US"/>
              <a:t>-trả lời các câu hỏi, </a:t>
            </a:r>
          </a:p>
          <a:p>
            <a:r>
              <a:rPr lang="en-US"/>
              <a:t>- tóm tắt văn bản, </a:t>
            </a:r>
          </a:p>
          <a:p>
            <a:r>
              <a:rPr lang="en-US"/>
              <a:t>- dịch máy, </a:t>
            </a:r>
          </a:p>
          <a:p>
            <a:r>
              <a:rPr lang="en-US"/>
              <a:t>-nhận dạng các thực thể có tên và nhiều tác vụ liên quan </a:t>
            </a:r>
          </a:p>
          <a:p>
            <a:r>
              <a:rPr lang="en-US"/>
              <a:t>đến NLP khác</a:t>
            </a:r>
          </a:p>
          <a:p>
            <a:r>
              <a:rPr lang="en-US"/>
              <a:t/>
            </a:r>
          </a:p>
          <a:p>
            <a:r>
              <a:rPr lang="en-US"/>
              <a:t>Đặc điểm của mô hình LLM</a:t>
            </a:r>
          </a:p>
          <a:p>
            <a:r>
              <a:rPr lang="en-US"/>
              <a:t>	Học biểu diễn ngữ nghĩa sâu</a:t>
            </a:r>
          </a:p>
          <a:p>
            <a:r>
              <a:rPr lang="en-US"/>
              <a:t>	Khả năng mở rộng mạnh mẽ</a:t>
            </a:r>
          </a:p>
          <a:p>
            <a:r>
              <a:rPr lang="en-US"/>
              <a:t>	Dễ dàng áp dụng đa nhiệm</a:t>
            </a:r>
          </a:p>
          <a:p>
            <a:r>
              <a:rPr lang="en-US"/>
              <a:t>	Yêu cầu về phần cứng cao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các mô hình ngôn ngữ lớn (LLM) tiêu biểu được sử dụng rộng rãi trong bài toán Nhận dạng thực thể có tên – NER.</a:t>
            </a:r>
          </a:p>
          <a:p>
            <a:r>
              <a:rPr lang="en-US"/>
              <a:t>BERT</a:t>
            </a:r>
          </a:p>
          <a:p>
            <a:r>
              <a:rPr lang="en-US"/>
              <a:t>RoBERTa</a:t>
            </a:r>
          </a:p>
          <a:p>
            <a:r>
              <a:rPr lang="en-US"/>
              <a:t>PhoBERT</a:t>
            </a:r>
          </a:p>
          <a:p>
            <a:r>
              <a:rPr lang="en-US"/>
              <a:t/>
            </a:r>
          </a:p>
          <a:p>
            <a:r>
              <a:rPr lang="en-US"/>
              <a:t>BERT – Mô hình nền tảng sử dụng kiến trúc Transformer hai chiều (cả trước và sau từ cần dự đoán), đặt nền móng cho NLP hiện đại. Google Search hiện nay dùng BERT </a:t>
            </a:r>
          </a:p>
          <a:p>
            <a:r>
              <a:rPr lang="en-US"/>
              <a:t/>
            </a:r>
          </a:p>
          <a:p>
            <a:r>
              <a:rPr lang="en-US"/>
              <a:t>RoBERTa – Là phiên bản cải tiến từ BERT do Facebook phát triển RoBERTa được huấn luyện trên dữ liệu lớn hơn, không dùng một số kỹ thuật như “Next Sentence Prediction” nên học tốt hơn ở nhiều tác vụ.</a:t>
            </a:r>
          </a:p>
          <a:p>
            <a:r>
              <a:rPr lang="en-US"/>
              <a:t/>
            </a:r>
          </a:p>
          <a:p>
            <a:r>
              <a:rPr lang="en-US"/>
              <a:t>PhoBERT – Đây là mô hình BERT được “Việt hóa”, huấn luyện trên dữ liệu tiếng Việt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PhoBERT là một mô hình ngôn ngữ lớn (LLM) được huấn luyện chuyên biệt cho tiếng Việt. Nó được xây dựng dựa trên kiến trúc của RoBERTa nhưng thay đổi phần tokenizer để phù hợp với đặc thù tiếng Việt</a:t>
            </a:r>
          </a:p>
          <a:p>
            <a:r>
              <a:rPr lang="en-US"/>
              <a:t/>
            </a:r>
          </a:p>
          <a:p>
            <a:r>
              <a:rPr lang="en-US"/>
              <a:t>PhoBERT được phát triển bởi VinAI Research và đã đạt hiệu suất vượt trội trong nhiều tác vụ NLP, đặc biệt là bài toán Nhận dạng thực thể có tên (NER) trong tiếng Việt.</a:t>
            </a:r>
          </a:p>
          <a:p>
            <a:r>
              <a:rPr lang="en-US"/>
              <a:t/>
            </a:r>
          </a:p>
          <a:p>
            <a:r>
              <a:rPr lang="en-US"/>
              <a:t>Dữ liệu dùng để huấn luyện rất lớn – khoảng 20GB văn bản tiếng Việt sạch từ báo chí, diễn đàn, Wikipedia,…</a:t>
            </a:r>
          </a:p>
          <a:p>
            <a:r>
              <a:rPr lang="en-US"/>
              <a:t/>
            </a:r>
          </a:p>
          <a:p>
            <a:r>
              <a:rPr lang="en-US"/>
              <a:t>PhoBERT có hai phiên bản:</a:t>
            </a:r>
          </a:p>
          <a:p>
            <a:r>
              <a:rPr lang="en-US"/>
              <a:t/>
            </a:r>
          </a:p>
          <a:p>
            <a:r>
              <a:rPr lang="en-US"/>
              <a:t>PhoBERT-base: 135 triệu tham số.</a:t>
            </a:r>
          </a:p>
          <a:p>
            <a:r>
              <a:rPr lang="en-US"/>
              <a:t>PhoBERT-large: 370 triệu tham số.</a:t>
            </a:r>
          </a:p>
          <a:p>
            <a:r>
              <a:rPr lang="en-US"/>
              <a:t/>
            </a:r>
          </a:p>
          <a:p>
            <a:r>
              <a:rPr lang="en-US"/>
              <a:t>Tôi chọn PhoBERT-base vì nó cân bằng tốt giữa tốc độ, chi phí và độ chính xác. </a:t>
            </a:r>
          </a:p>
          <a:p>
            <a:r>
              <a:rPr lang="en-US"/>
              <a:t>Với hầu hết các ứng dụng PhoBERT-base đã đáp ứng rất tốt mà không đòi hỏi hạ tầng mạnh như bản large.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Ưu điểm của mô hình PhoBERT:</a:t>
            </a:r>
          </a:p>
          <a:p>
            <a:r>
              <a:rPr lang="en-US"/>
              <a:t>Tối ưu về hiệu suất cho tiếng Việt: Nhờ tokenizer word-level phù hợp với ngữ pháp tiếng Việt</a:t>
            </a:r>
          </a:p>
          <a:p>
            <a:r>
              <a:rPr lang="en-US"/>
              <a:t/>
            </a:r>
          </a:p>
          <a:p>
            <a:r>
              <a:rPr lang="en-US"/>
              <a:t>Học ngữ nghĩa sâu sắc </a:t>
            </a:r>
          </a:p>
          <a:p>
            <a:r>
              <a:rPr lang="en-US"/>
              <a:t/>
            </a:r>
          </a:p>
          <a:p>
            <a:r>
              <a:rPr lang="en-US"/>
              <a:t>Mô hình được huấn luyện </a:t>
            </a:r>
          </a:p>
          <a:p>
            <a:r>
              <a:rPr lang="en-US"/>
              <a:t>hoàn toàn trên bộ dữ liệu bằng tiếng Việt, nên có thể hiểu được các mẫu ngữ nghĩa, cấu trúc cú pháp đặc thù của tiếng Việt.</a:t>
            </a:r>
          </a:p>
          <a:p>
            <a:r>
              <a:rPr lang="en-US"/>
              <a:t>Khi phân tích bình luận mạng xã hội, PhoBERT hiểu các cách viết tắt, cách dùng tiếng lóng của người Việt tốt hơn các mô hình quốc tế.</a:t>
            </a:r>
          </a:p>
          <a:p>
            <a:r>
              <a:rPr lang="en-US"/>
              <a:t/>
            </a:r>
          </a:p>
          <a:p>
            <a:r>
              <a:rPr lang="en-US"/>
              <a:t>Khi khách hàng hỏi chatbot: “Chuyển khoản giúp mình”, PhoBERT hiểu đây là hành động tài chính, không nhầm lẫn với nghĩa chuyển đồ vật.</a:t>
            </a:r>
          </a:p>
          <a:p>
            <a:r>
              <a:rPr lang="en-US"/>
              <a:t/>
            </a:r>
          </a:p>
          <a:p>
            <a:r>
              <a:rPr lang="en-US"/>
              <a:t>Từ “bàn” trong “cái bàn học” (đồ vật) khác với “bàn công việc” (hành động thảo luận). PhoBERT xác định được đúng nghĩa dựa trên ngữ cảnh câu.</a:t>
            </a:r>
          </a:p>
          <a:p>
            <a:r>
              <a:rPr lang="en-US"/>
              <a:t/>
            </a:r>
          </a:p>
          <a:p>
            <a:r>
              <a:rPr lang="en-US"/>
              <a:t> mô hình PhoBERT có thể phân biệt các từ đồng âm dựa vào ngữ cảnh sâu hai chiều, điều mà các mô hình dựa trên embedding truyền thống hoặc BERT đa ngôn ngữ (mBERT) không làm tốt.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PhoBERT là một mô hình ngôn ngữ lớn (LLM) được huấn luyện chuyên biệt cho tiếng Việt. Nó được xây dựng dựa trên kiến trúc của RoBERTa nhưng thay đổi phần tokenizer để phù hợp với đặc thù tiếng Việt</a:t>
            </a:r>
          </a:p>
          <a:p>
            <a:r>
              <a:rPr lang="en-US"/>
              <a:t/>
            </a:r>
          </a:p>
          <a:p>
            <a:r>
              <a:rPr lang="en-US"/>
              <a:t>PhoBERT được phát triển bởi VinAI Research và đã đạt hiệu suất vượt trội trong nhiều tác vụ NLP, đặc biệt là bài toán Nhận dạng thực thể có tên (NER) trong tiếng Việt.</a:t>
            </a:r>
          </a:p>
          <a:p>
            <a:r>
              <a:rPr lang="en-US"/>
              <a:t/>
            </a:r>
          </a:p>
          <a:p>
            <a:r>
              <a:rPr lang="en-US"/>
              <a:t>Dữ liệu dùng để huấn luyện rất lớn – khoảng 20GB văn bản tiếng Việt sạch từ báo chí, diễn đàn, Wikipedia,…</a:t>
            </a:r>
          </a:p>
          <a:p>
            <a:r>
              <a:rPr lang="en-US"/>
              <a:t/>
            </a:r>
          </a:p>
          <a:p>
            <a:r>
              <a:rPr lang="en-US"/>
              <a:t>PhoBERT có hai phiên bản:</a:t>
            </a:r>
          </a:p>
          <a:p>
            <a:r>
              <a:rPr lang="en-US"/>
              <a:t/>
            </a:r>
          </a:p>
          <a:p>
            <a:r>
              <a:rPr lang="en-US"/>
              <a:t>PhoBERT-base: 135 triệu tham số.</a:t>
            </a:r>
          </a:p>
          <a:p>
            <a:r>
              <a:rPr lang="en-US"/>
              <a:t>PhoBERT-large: 370 triệu tham số.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Giống như khi bạn ôn thi:</a:t>
            </a:r>
          </a:p>
          <a:p>
            <a:r>
              <a:rPr lang="en-US"/>
              <a:t/>
            </a:r>
          </a:p>
          <a:p>
            <a:r>
              <a:rPr lang="en-US"/>
              <a:t>Tài liệu bạn học là train</a:t>
            </a:r>
          </a:p>
          <a:p>
            <a:r>
              <a:rPr lang="en-US"/>
              <a:t/>
            </a:r>
          </a:p>
          <a:p>
            <a:r>
              <a:rPr lang="en-US"/>
              <a:t>Đề kiểm tra giữa kỳ là dev</a:t>
            </a:r>
          </a:p>
          <a:p>
            <a:r>
              <a:rPr lang="en-US"/>
              <a:t/>
            </a:r>
          </a:p>
          <a:p>
            <a:r>
              <a:rPr lang="en-US"/>
              <a:t>Đề thi cuối kỳ là test</a:t>
            </a:r>
          </a:p>
          <a:p>
            <a:r>
              <a:rPr lang="en-US"/>
              <a:t/>
            </a:r>
          </a:p>
          <a:p>
            <a:r>
              <a:rPr lang="en-US"/>
              <a:t>Nhờ chia như vậy, mô hình tránh bị “học vẹt”, giúp đánh giá chính xác khả năng “giải quyết đề mới” của AI.</a:t>
            </a:r>
          </a:p>
          <a:p>
            <a:r>
              <a:rPr lang="en-US"/>
              <a:t/>
            </a:r>
          </a:p>
          <a:p>
            <a:r>
              <a:rPr lang="en-US"/>
              <a:t>train cần đủ lớn để học</a:t>
            </a:r>
          </a:p>
          <a:p>
            <a:r>
              <a:rPr lang="en-US"/>
              <a:t>train quá nhỏ bị underfitting</a:t>
            </a:r>
          </a:p>
          <a:p>
            <a:r>
              <a:rPr lang="en-US"/>
              <a:t>dev quá nhỏ không đủ để tối ưu</a:t>
            </a:r>
          </a:p>
          <a:p>
            <a:r>
              <a:rPr lang="en-US"/>
              <a:t>test quá nhỏ k đánh giá được chính xác mô hình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tập dữ liệu của chúng ta rất đa dạng về các loại thực thể</a:t>
            </a:r>
          </a:p>
          <a:p>
            <a:r>
              <a:rPr lang="en-US"/>
              <a:t/>
            </a:r>
          </a:p>
          <a:p>
            <a:r>
              <a:rPr lang="en-US"/>
              <a:t>Các thực thể ít xuất hiện hơn như JOB hay TRANSPORTATION có số lượng nhỏ,</a:t>
            </a:r>
          </a:p>
          <a:p>
            <a:r>
              <a:rPr lang="en-US"/>
              <a:t/>
            </a:r>
          </a:p>
          <a:p>
            <a:r>
              <a:rPr lang="en-US"/>
              <a:t>dữ liệu các thực thể này đều có mặt ở mọi tập, giúp đánh giá công bằng hơn.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Hàm read_conll(file_path) thực hiện đúng nhiệm vụ đọc file CoNLL, gom token và nhãn thành từng câu (sentence), lưu vào list, và trả về sentences, sentence_labels, unique_labels.</a:t>
            </a:r>
          </a:p>
          <a:p>
            <a:r>
              <a:rPr lang="en-US"/>
              <a:t/>
            </a:r>
          </a:p>
          <a:p>
            <a:r>
              <a:rPr lang="en-US"/>
              <a:t>Đọc dữ liệu train/dev/test đều dùng hàm này.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Tách từng câu thành array qua hàm process_string_to_array (tokens, labels dạng list các từ/nhãn).</a:t>
            </a:r>
          </a:p>
          <a:p>
            <a:r>
              <a:rPr lang="en-US"/>
              <a:t/>
            </a:r>
          </a:p>
          <a:p>
            <a:r>
              <a:rPr lang="en-US"/>
              <a:t>Chuyển sang Dataset của Hugging Face: HFDataset.from_dict(train_dataset) (HFDataset giả định là datasets.Dataset).</a:t>
            </a:r>
          </a:p>
          <a:p>
            <a:r>
              <a:rPr lang="en-US"/>
              <a:t/>
            </a:r>
          </a:p>
          <a:p>
            <a:r>
              <a:rPr lang="en-US"/>
              <a:t>In sample kiểm tra đúng format.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Hàm convert_examples_to_features: dùng PhoBERT tokenizer, subword-tokenize từng từ, mapping label đầu subword, các subword sau gán pad_label_id = -100.</a:t>
            </a:r>
          </a:p>
          <a:p>
            <a:r>
              <a:rPr lang="en-US"/>
              <a:t/>
            </a:r>
          </a:p>
          <a:p>
            <a:r>
              <a:rPr lang="en-US"/>
              <a:t>Các feature (input_ids, attention_mask, labels) được tạo đúng chuẩn input cho model NER Hugging Face.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Class NERDataset(Dataset) nhận list feature và trả về tensor cần thiết (input_ids, attention_mask, labels) cho mỗi batch.</a:t>
            </a:r>
          </a:p>
          <a:p>
            <a:r>
              <a:rPr lang="en-US"/>
              <a:t/>
            </a:r>
          </a:p>
          <a:p>
            <a:r>
              <a:rPr lang="en-US"/>
              <a:t>Dataset này được dùng trực tiếp trong Trainer của Hugging Face để tạo DataLoader ngầm.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PhoBERT-base</a:t>
            </a:r>
          </a:p>
          <a:p>
            <a:r>
              <a:rPr lang="en-US"/>
              <a:t>Ở bước này, chúng ta sử dụng PhoBERT-base, một pretrained model mạnh cho tiếng Việt, làm backbone để huấn luyện bài toán nhận diện thực thể (NER).</a:t>
            </a:r>
          </a:p>
          <a:p>
            <a:r>
              <a:rPr lang="en-US"/>
              <a:t/>
            </a:r>
          </a:p>
          <a:p>
            <a:r>
              <a:rPr lang="en-US"/>
              <a:t>- WandB Logging</a:t>
            </a:r>
          </a:p>
          <a:p>
            <a:r>
              <a:rPr lang="en-US"/>
              <a:t>Quá trình huấn luyện được theo dõi, trực quan hóa bằng Weights &amp; Biases (WandB).</a:t>
            </a:r>
          </a:p>
          <a:p>
            <a:r>
              <a:rPr lang="en-US"/>
              <a:t/>
            </a:r>
          </a:p>
          <a:p>
            <a:r>
              <a:rPr lang="en-US"/>
              <a:t>loss, các chỉ số đánh giá, learning curve… đều được log và lưu lại, hỗ trợ phân tích và debug hiệu quả.</a:t>
            </a:r>
          </a:p>
          <a:p>
            <a:r>
              <a:rPr lang="en-US"/>
              <a:t/>
            </a:r>
          </a:p>
          <a:p>
            <a:r>
              <a:rPr lang="en-US"/>
              <a:t>Đây là thiết lập giúp cân bằng giữa hiệu năng và tốc độ, phù hợp với tài nguyên tính toán thông thường.</a:t>
            </a:r>
          </a:p>
          <a:p>
            <a:r>
              <a:rPr lang="en-US"/>
              <a:t/>
            </a:r>
          </a:p>
          <a:p>
            <a:r>
              <a:rPr lang="en-US"/>
              <a:t>- 3 chỉ số quan trọng: Precision, Recall và F1-score.</a:t>
            </a:r>
          </a:p>
          <a:p>
            <a:r>
              <a:rPr lang="en-US"/>
              <a:t/>
            </a:r>
          </a:p>
          <a:p>
            <a:r>
              <a:rPr lang="en-US"/>
              <a:t>- Sau mỗi epoch, checkpoint của mô hình sẽ được lưu lại.</a:t>
            </a:r>
          </a:p>
          <a:p>
            <a:r>
              <a:rPr lang="en-US"/>
              <a:t/>
            </a:r>
          </a:p>
          <a:p>
            <a:r>
              <a:rPr lang="en-US"/>
              <a:t>Điều này giúp ta có thể quay lại checkpoint bất kỳ khi cần, hoặc chọn mô hình tốt nhất qua từng epoch để deploy.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PhoBERT là một mô hình ngôn ngữ lớn (LLM) được huấn luyện chuyên biệt cho tiếng Việt. Nó được xây dựng dựa trên kiến trúc của RoBERTa nhưng thay đổi phần tokenizer để phù hợp với đặc thù tiếng Việt</a:t>
            </a:r>
          </a:p>
          <a:p>
            <a:r>
              <a:rPr lang="en-US"/>
              <a:t/>
            </a:r>
          </a:p>
          <a:p>
            <a:r>
              <a:rPr lang="en-US"/>
              <a:t>PhoBERT được phát triển bởi VinAI Research và đã đạt hiệu suất vượt trội trong nhiều tác vụ NLP, đặc biệt là bài toán Nhận dạng thực thể có tên (NER) trong tiếng Việt.</a:t>
            </a:r>
          </a:p>
          <a:p>
            <a:r>
              <a:rPr lang="en-US"/>
              <a:t/>
            </a:r>
          </a:p>
          <a:p>
            <a:r>
              <a:rPr lang="en-US"/>
              <a:t>Dữ liệu dùng để huấn luyện rất lớn – khoảng 20GB văn bản tiếng Việt sạch từ báo chí, diễn đàn, Wikipedia,…</a:t>
            </a:r>
          </a:p>
          <a:p>
            <a:r>
              <a:rPr lang="en-US"/>
              <a:t/>
            </a:r>
          </a:p>
          <a:p>
            <a:r>
              <a:rPr lang="en-US"/>
              <a:t>PhoBERT có hai phiên bản:</a:t>
            </a:r>
          </a:p>
          <a:p>
            <a:r>
              <a:rPr lang="en-US"/>
              <a:t/>
            </a:r>
          </a:p>
          <a:p>
            <a:r>
              <a:rPr lang="en-US"/>
              <a:t>PhoBERT-base: 135 triệu tham số.</a:t>
            </a:r>
          </a:p>
          <a:p>
            <a:r>
              <a:rPr lang="en-US"/>
              <a:t>PhoBERT-large: 370 triệu tham số.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Precision (Độ chính xác)</a:t>
            </a:r>
          </a:p>
          <a:p>
            <a:r>
              <a:rPr lang="en-US"/>
              <a:t>Recall (Độ nhạy, Tỷ lệ phát hiện):</a:t>
            </a:r>
          </a:p>
          <a:p>
            <a:r>
              <a:rPr lang="en-US"/>
              <a:t>F1-score: Trung bình điều hòa của Precision và Recall</a:t>
            </a:r>
          </a:p>
          <a:p>
            <a:r>
              <a:rPr lang="en-US"/>
              <a:t/>
            </a:r>
          </a:p>
          <a:p>
            <a:r>
              <a:rPr lang="en-US"/>
              <a:t>Hữu ích khi cần đánh giá tổng thể, đặc biệt khi Precision và Recall có sự chênh lệch lớn.</a:t>
            </a:r>
          </a:p>
          <a:p>
            <a:r>
              <a:rPr lang="en-US"/>
              <a:t/>
            </a:r>
          </a:p>
          <a:p>
            <a:r>
              <a:rPr lang="en-US"/>
              <a:t>Loss là khoảng cách giữa vector nhãn thực và vector nhãn model predict ra , model dự đoán càng lệch so với giá trị thực thì Loss (độ sai) càng to và ngược lại</a:t>
            </a:r>
          </a:p>
          <a:p>
            <a:r>
              <a:rPr lang="en-US"/>
              <a:t/>
            </a:r>
          </a:p>
          <a:p>
            <a:r>
              <a:rPr lang="en-US"/>
              <a:t>Nó đo xem mô hình dự đoán “tự tin” đúng bao nhiêu so với đáp án thực sự.</a:t>
            </a:r>
          </a:p>
          <a:p>
            <a:r>
              <a:rPr lang="en-US"/>
              <a:t/>
            </a:r>
          </a:p>
          <a:p>
            <a:r>
              <a:rPr lang="en-US"/>
              <a:t>Trường hợp tốt:</a:t>
            </a:r>
          </a:p>
          <a:p>
            <a:r>
              <a:rPr lang="en-US"/>
              <a:t>Nếu ảnh là “con mèo” và mô hình dự đoán xác suất “con mèo” = 0.99, loss sẽ rất thấp.</a:t>
            </a:r>
          </a:p>
          <a:p>
            <a:r>
              <a:rPr lang="en-US"/>
              <a:t/>
            </a:r>
          </a:p>
          <a:p>
            <a:r>
              <a:rPr lang="en-US"/>
              <a:t>Trường hợp xấu:</a:t>
            </a:r>
          </a:p>
          <a:p>
            <a:r>
              <a:rPr lang="en-US"/>
              <a:t>Nếu ảnh là “con mèo” nhưng mô hình dự đoán “con chó” 0.6, “con mèo” 0.4, loss sẽ cao hơn vì mô hình kém tự tin hoặc đoán sai.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Mô hình đạt độ chính xác rất cao trên hầu hết các loại thực thể, nổi bật nhất</a:t>
            </a:r>
          </a:p>
          <a:p>
            <a:r>
              <a:rPr lang="en-US"/>
              <a:t/>
            </a:r>
          </a:p>
          <a:p>
            <a:r>
              <a:rPr lang="en-US"/>
              <a:t>Một số thực thể phức tạp hơn như JOB và ORGANIZATION</a:t>
            </a:r>
          </a:p>
          <a:p>
            <a:r>
              <a:rPr lang="en-US"/>
              <a:t/>
            </a:r>
          </a:p>
          <a:p>
            <a:r>
              <a:rPr lang="en-US"/>
              <a:t>- Ngữ cảnh đa dạng  ví dụ: "bác sĩ", "kỹ sư", "giám đốc", hoặc các mô tả công việc như "làm việc tại nhà máy", "chuyên viên marketing".</a:t>
            </a:r>
          </a:p>
          <a:p>
            <a:r>
              <a:rPr lang="en-US"/>
              <a:t/>
            </a:r>
          </a:p>
          <a:p>
            <a:r>
              <a:rPr lang="en-US"/>
              <a:t>- Dữ liệu huấn luyện hạn chế: (slide 22)</a:t>
            </a:r>
          </a:p>
          <a:p>
            <a:r>
              <a:rPr lang="en-US"/>
              <a:t/>
            </a:r>
          </a:p>
          <a:p>
            <a:r>
              <a:rPr lang="en-US"/>
              <a:t>Ví dụ 2:</a:t>
            </a:r>
          </a:p>
          <a:p>
            <a:r>
              <a:rPr lang="en-US"/>
              <a:t>Câu: “Chị ấy làm việc tại nhà máy sản xuất xe máy.”</a:t>
            </a:r>
          </a:p>
          <a:p>
            <a:r>
              <a:rPr lang="en-US"/>
              <a:t>→ Cụm “làm việc tại nhà máy sản xuất xe máy” mô tả công việc nhưng không có tên nghề nghiệp rõ ràng, khiến mô hình khó nhận diện chính xác.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PhoBERT cho kết quả vượt trội hơn RoBERTa trên cả 4 chỉ số đánh giá (loss, precision, recall, F1).</a:t>
            </a:r>
          </a:p>
          <a:p>
            <a:r>
              <a:rPr lang="en-US"/>
              <a:t/>
            </a:r>
          </a:p>
          <a:p>
            <a:r>
              <a:rPr lang="en-US"/>
              <a:t>Điều này phù hợp vì PhoBERT là mô hình huấn luyện trên tập dữ liệu tiếng Việt lớn, còn RoBERTa là mô hình  đa ngôn ngữ mạnh mẽ, nhưng không được huấn luyện chuyên biệt cho tiếng Việt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Mở rộng bộ dữ liệu</a:t>
            </a:r>
          </a:p>
          <a:p>
            <a:r>
              <a:rPr lang="en-US"/>
              <a:t/>
            </a:r>
          </a:p>
          <a:p>
            <a:r>
              <a:rPr lang="en-US"/>
              <a:t>Tiếp tục thu thập và gán nhãn thêm dữ liệu đa dạng hơn để tăng độ chính xác và khả năng tổng quát của mô hình.</a:t>
            </a:r>
          </a:p>
          <a:p>
            <a:r>
              <a:rPr lang="en-US"/>
              <a:t/>
            </a:r>
          </a:p>
          <a:p>
            <a:r>
              <a:rPr lang="en-US"/>
              <a:t>Tích hợp vào hệ thống thực tế</a:t>
            </a:r>
          </a:p>
          <a:p>
            <a:r>
              <a:rPr lang="en-US"/>
              <a:t/>
            </a:r>
          </a:p>
          <a:p>
            <a:r>
              <a:rPr lang="en-US"/>
              <a:t>Ứng dụng mô hình vào các hệ thống như chatbot y tế, hỗ trợ tra cứu, giải đáp tự động, hoặc hệ thống hỗ trợ chẩn đoán giúp bác sĩ, nhân viên y tế tra cứu thông tin nhanh chóng và chính xác hơn.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4.jpe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4.jpe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4.jpe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2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2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2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7.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28.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29.jpeg" Type="http://schemas.openxmlformats.org/officeDocument/2006/relationships/image"/><Relationship Id="rId6" Target="../media/VAGp7Dj8r_k.mp4" Type="http://schemas.openxmlformats.org/officeDocument/2006/relationships/video"/><Relationship Id="rId7" Target="../media/VAGp7Dj8r_k.mp4" Type="http://schemas.microsoft.com/office/2007/relationships/media"/></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30.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560400" y="0"/>
            <a:ext cx="19408801" cy="10068315"/>
          </a:xfrm>
          <a:custGeom>
            <a:avLst/>
            <a:gdLst/>
            <a:ahLst/>
            <a:cxnLst/>
            <a:rect r="r" b="b" t="t" l="l"/>
            <a:pathLst>
              <a:path h="10068315" w="19408801">
                <a:moveTo>
                  <a:pt x="0" y="0"/>
                </a:moveTo>
                <a:lnTo>
                  <a:pt x="19408800" y="0"/>
                </a:lnTo>
                <a:lnTo>
                  <a:pt x="19408800" y="10068315"/>
                </a:lnTo>
                <a:lnTo>
                  <a:pt x="0" y="10068315"/>
                </a:lnTo>
                <a:lnTo>
                  <a:pt x="0" y="0"/>
                </a:lnTo>
                <a:close/>
              </a:path>
            </a:pathLst>
          </a:custGeom>
          <a:blipFill>
            <a:blip r:embed="rId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grpSp>
        <p:nvGrpSpPr>
          <p:cNvPr name="Group 2" id="2"/>
          <p:cNvGrpSpPr/>
          <p:nvPr/>
        </p:nvGrpSpPr>
        <p:grpSpPr>
          <a:xfrm rot="-2216105">
            <a:off x="-4934678" y="654244"/>
            <a:ext cx="7666660" cy="21344736"/>
            <a:chOff x="0" y="0"/>
            <a:chExt cx="2019203" cy="5621659"/>
          </a:xfrm>
        </p:grpSpPr>
        <p:sp>
          <p:nvSpPr>
            <p:cNvPr name="Freeform 3" id="3"/>
            <p:cNvSpPr/>
            <p:nvPr/>
          </p:nvSpPr>
          <p:spPr>
            <a:xfrm flipH="false" flipV="false" rot="0">
              <a:off x="0" y="0"/>
              <a:ext cx="2019203" cy="5621659"/>
            </a:xfrm>
            <a:custGeom>
              <a:avLst/>
              <a:gdLst/>
              <a:ahLst/>
              <a:cxnLst/>
              <a:rect r="r" b="b" t="t" l="l"/>
              <a:pathLst>
                <a:path h="5621659" w="2019203">
                  <a:moveTo>
                    <a:pt x="0" y="0"/>
                  </a:moveTo>
                  <a:lnTo>
                    <a:pt x="2019203" y="0"/>
                  </a:lnTo>
                  <a:lnTo>
                    <a:pt x="2019203" y="5621659"/>
                  </a:lnTo>
                  <a:lnTo>
                    <a:pt x="0" y="5621659"/>
                  </a:lnTo>
                  <a:close/>
                </a:path>
              </a:pathLst>
            </a:custGeom>
            <a:solidFill>
              <a:srgbClr val="FEFEFE"/>
            </a:solidFill>
          </p:spPr>
        </p:sp>
        <p:sp>
          <p:nvSpPr>
            <p:cNvPr name="TextBox 4" id="4"/>
            <p:cNvSpPr txBox="true"/>
            <p:nvPr/>
          </p:nvSpPr>
          <p:spPr>
            <a:xfrm>
              <a:off x="0" y="-47625"/>
              <a:ext cx="2019203" cy="5669284"/>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625653" y="8422206"/>
            <a:ext cx="5888341" cy="4875049"/>
            <a:chOff x="0" y="0"/>
            <a:chExt cx="794957" cy="658157"/>
          </a:xfrm>
        </p:grpSpPr>
        <p:sp>
          <p:nvSpPr>
            <p:cNvPr name="Freeform 6" id="6"/>
            <p:cNvSpPr/>
            <p:nvPr/>
          </p:nvSpPr>
          <p:spPr>
            <a:xfrm flipH="false" flipV="false" rot="0">
              <a:off x="0" y="0"/>
              <a:ext cx="794957" cy="658157"/>
            </a:xfrm>
            <a:custGeom>
              <a:avLst/>
              <a:gdLst/>
              <a:ahLst/>
              <a:cxnLst/>
              <a:rect r="r" b="b" t="t" l="l"/>
              <a:pathLst>
                <a:path h="658157" w="794957">
                  <a:moveTo>
                    <a:pt x="397478" y="0"/>
                  </a:moveTo>
                  <a:cubicBezTo>
                    <a:pt x="177957" y="0"/>
                    <a:pt x="0" y="147333"/>
                    <a:pt x="0" y="329078"/>
                  </a:cubicBezTo>
                  <a:cubicBezTo>
                    <a:pt x="0" y="510823"/>
                    <a:pt x="177957" y="658157"/>
                    <a:pt x="397478" y="658157"/>
                  </a:cubicBezTo>
                  <a:cubicBezTo>
                    <a:pt x="616999" y="658157"/>
                    <a:pt x="794957" y="510823"/>
                    <a:pt x="794957" y="329078"/>
                  </a:cubicBezTo>
                  <a:cubicBezTo>
                    <a:pt x="794957" y="147333"/>
                    <a:pt x="616999" y="0"/>
                    <a:pt x="397478" y="0"/>
                  </a:cubicBezTo>
                  <a:close/>
                </a:path>
              </a:pathLst>
            </a:custGeom>
            <a:solidFill>
              <a:srgbClr val="143F6F"/>
            </a:solidFill>
          </p:spPr>
        </p:sp>
        <p:sp>
          <p:nvSpPr>
            <p:cNvPr name="TextBox 7" id="7"/>
            <p:cNvSpPr txBox="true"/>
            <p:nvPr/>
          </p:nvSpPr>
          <p:spPr>
            <a:xfrm>
              <a:off x="74527" y="14077"/>
              <a:ext cx="645902" cy="58237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676514" y="-1423804"/>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2915221" y="1029892"/>
            <a:ext cx="1527539" cy="1517932"/>
          </a:xfrm>
          <a:custGeom>
            <a:avLst/>
            <a:gdLst/>
            <a:ahLst/>
            <a:cxnLst/>
            <a:rect r="r" b="b" t="t" l="l"/>
            <a:pathLst>
              <a:path h="1517932" w="1527539">
                <a:moveTo>
                  <a:pt x="0" y="0"/>
                </a:moveTo>
                <a:lnTo>
                  <a:pt x="1527539" y="0"/>
                </a:lnTo>
                <a:lnTo>
                  <a:pt x="1527539" y="1517932"/>
                </a:lnTo>
                <a:lnTo>
                  <a:pt x="0" y="1517932"/>
                </a:lnTo>
                <a:lnTo>
                  <a:pt x="0" y="0"/>
                </a:lnTo>
                <a:close/>
              </a:path>
            </a:pathLst>
          </a:custGeom>
          <a:blipFill>
            <a:blip r:embed="rId6"/>
            <a:stretch>
              <a:fillRect l="0" t="0" r="0" b="0"/>
            </a:stretch>
          </a:blipFill>
        </p:spPr>
      </p:sp>
      <p:sp>
        <p:nvSpPr>
          <p:cNvPr name="Freeform 11" id="11"/>
          <p:cNvSpPr/>
          <p:nvPr/>
        </p:nvSpPr>
        <p:spPr>
          <a:xfrm flipH="false" flipV="false" rot="0">
            <a:off x="14471496" y="1028700"/>
            <a:ext cx="1473139" cy="1476260"/>
          </a:xfrm>
          <a:custGeom>
            <a:avLst/>
            <a:gdLst/>
            <a:ahLst/>
            <a:cxnLst/>
            <a:rect r="r" b="b" t="t" l="l"/>
            <a:pathLst>
              <a:path h="1476260" w="1473139">
                <a:moveTo>
                  <a:pt x="0" y="0"/>
                </a:moveTo>
                <a:lnTo>
                  <a:pt x="1473139" y="0"/>
                </a:lnTo>
                <a:lnTo>
                  <a:pt x="1473139" y="1476260"/>
                </a:lnTo>
                <a:lnTo>
                  <a:pt x="0" y="1476260"/>
                </a:lnTo>
                <a:lnTo>
                  <a:pt x="0" y="0"/>
                </a:lnTo>
                <a:close/>
              </a:path>
            </a:pathLst>
          </a:custGeom>
          <a:blipFill>
            <a:blip r:embed="rId7"/>
            <a:stretch>
              <a:fillRect l="0" t="0" r="0" b="0"/>
            </a:stretch>
          </a:blipFill>
        </p:spPr>
      </p:sp>
      <p:sp>
        <p:nvSpPr>
          <p:cNvPr name="TextBox 12" id="12"/>
          <p:cNvSpPr txBox="true"/>
          <p:nvPr/>
        </p:nvSpPr>
        <p:spPr>
          <a:xfrm rot="0">
            <a:off x="3945204" y="967981"/>
            <a:ext cx="10766566" cy="1536979"/>
          </a:xfrm>
          <a:prstGeom prst="rect">
            <a:avLst/>
          </a:prstGeom>
        </p:spPr>
        <p:txBody>
          <a:bodyPr anchor="t" rtlCol="false" tIns="0" lIns="0" bIns="0" rIns="0">
            <a:spAutoFit/>
          </a:bodyPr>
          <a:lstStyle/>
          <a:p>
            <a:pPr algn="ctr">
              <a:lnSpc>
                <a:spcPts val="7285"/>
              </a:lnSpc>
            </a:pPr>
            <a:r>
              <a:rPr lang="en-US" sz="5203" b="true">
                <a:solidFill>
                  <a:srgbClr val="FEFEFE"/>
                </a:solidFill>
                <a:latin typeface="Roboto Bold"/>
                <a:ea typeface="Roboto Bold"/>
                <a:cs typeface="Roboto Bold"/>
                <a:sym typeface="Roboto Bold"/>
              </a:rPr>
              <a:t>TRƯỜNG ĐẠI HỌC SÀI GÒN </a:t>
            </a:r>
          </a:p>
          <a:p>
            <a:pPr algn="ctr">
              <a:lnSpc>
                <a:spcPts val="4933"/>
              </a:lnSpc>
            </a:pPr>
            <a:r>
              <a:rPr lang="en-US" sz="3524" b="true">
                <a:solidFill>
                  <a:srgbClr val="FEFEFE"/>
                </a:solidFill>
                <a:latin typeface="Roboto Bold"/>
                <a:ea typeface="Roboto Bold"/>
                <a:cs typeface="Roboto Bold"/>
                <a:sym typeface="Roboto Bold"/>
              </a:rPr>
              <a:t>KHOA CÔNG NGHỆ THÔNG TIN</a:t>
            </a:r>
          </a:p>
        </p:txBody>
      </p:sp>
      <p:sp>
        <p:nvSpPr>
          <p:cNvPr name="TextBox 13" id="13"/>
          <p:cNvSpPr txBox="true"/>
          <p:nvPr/>
        </p:nvSpPr>
        <p:spPr>
          <a:xfrm rot="0">
            <a:off x="4117072" y="3323350"/>
            <a:ext cx="10766566" cy="622837"/>
          </a:xfrm>
          <a:prstGeom prst="rect">
            <a:avLst/>
          </a:prstGeom>
        </p:spPr>
        <p:txBody>
          <a:bodyPr anchor="t" rtlCol="false" tIns="0" lIns="0" bIns="0" rIns="0">
            <a:spAutoFit/>
          </a:bodyPr>
          <a:lstStyle/>
          <a:p>
            <a:pPr algn="ctr">
              <a:lnSpc>
                <a:spcPts val="5045"/>
              </a:lnSpc>
            </a:pPr>
            <a:r>
              <a:rPr lang="en-US" sz="3603" b="true">
                <a:solidFill>
                  <a:srgbClr val="FEFEFE"/>
                </a:solidFill>
                <a:latin typeface="Roboto Bold"/>
                <a:ea typeface="Roboto Bold"/>
                <a:cs typeface="Roboto Bold"/>
                <a:sym typeface="Roboto Bold"/>
              </a:rPr>
              <a:t>KHÓA LUẬN TỐT NGHIỆP </a:t>
            </a:r>
          </a:p>
        </p:txBody>
      </p:sp>
      <p:sp>
        <p:nvSpPr>
          <p:cNvPr name="TextBox 14" id="14"/>
          <p:cNvSpPr txBox="true"/>
          <p:nvPr/>
        </p:nvSpPr>
        <p:spPr>
          <a:xfrm rot="0">
            <a:off x="3945204" y="4775689"/>
            <a:ext cx="11110302" cy="1509933"/>
          </a:xfrm>
          <a:prstGeom prst="rect">
            <a:avLst/>
          </a:prstGeom>
        </p:spPr>
        <p:txBody>
          <a:bodyPr anchor="t" rtlCol="false" tIns="0" lIns="0" bIns="0" rIns="0">
            <a:spAutoFit/>
          </a:bodyPr>
          <a:lstStyle/>
          <a:p>
            <a:pPr algn="ctr">
              <a:lnSpc>
                <a:spcPts val="6025"/>
              </a:lnSpc>
            </a:pPr>
            <a:r>
              <a:rPr lang="en-US" b="true" sz="4303">
                <a:solidFill>
                  <a:srgbClr val="FEFEFE"/>
                </a:solidFill>
                <a:latin typeface="Roboto Bold"/>
                <a:ea typeface="Roboto Bold"/>
                <a:cs typeface="Roboto Bold"/>
                <a:sym typeface="Roboto Bold"/>
              </a:rPr>
              <a:t>TINH CHỈNH MÔ HÌNH NGÔN NGỮ LỚN ĐỂ NHẬN DẠNG THỰC THỂ CÓ TÊN TIẾNG VIỆT</a:t>
            </a:r>
          </a:p>
        </p:txBody>
      </p:sp>
      <p:grpSp>
        <p:nvGrpSpPr>
          <p:cNvPr name="Group 15" id="15"/>
          <p:cNvGrpSpPr/>
          <p:nvPr/>
        </p:nvGrpSpPr>
        <p:grpSpPr>
          <a:xfrm rot="-8821549">
            <a:off x="16624276" y="187362"/>
            <a:ext cx="7757752" cy="21344736"/>
            <a:chOff x="0" y="0"/>
            <a:chExt cx="2043194" cy="5621659"/>
          </a:xfrm>
        </p:grpSpPr>
        <p:sp>
          <p:nvSpPr>
            <p:cNvPr name="Freeform 16" id="16"/>
            <p:cNvSpPr/>
            <p:nvPr/>
          </p:nvSpPr>
          <p:spPr>
            <a:xfrm flipH="false" flipV="false" rot="0">
              <a:off x="0" y="0"/>
              <a:ext cx="2043194" cy="5621659"/>
            </a:xfrm>
            <a:custGeom>
              <a:avLst/>
              <a:gdLst/>
              <a:ahLst/>
              <a:cxnLst/>
              <a:rect r="r" b="b" t="t" l="l"/>
              <a:pathLst>
                <a:path h="5621659" w="2043194">
                  <a:moveTo>
                    <a:pt x="0" y="0"/>
                  </a:moveTo>
                  <a:lnTo>
                    <a:pt x="2043194" y="0"/>
                  </a:lnTo>
                  <a:lnTo>
                    <a:pt x="2043194" y="5621659"/>
                  </a:lnTo>
                  <a:lnTo>
                    <a:pt x="0" y="5621659"/>
                  </a:lnTo>
                  <a:close/>
                </a:path>
              </a:pathLst>
            </a:custGeom>
            <a:solidFill>
              <a:srgbClr val="FEFEFE"/>
            </a:solidFill>
          </p:spPr>
        </p:sp>
        <p:sp>
          <p:nvSpPr>
            <p:cNvPr name="TextBox 17" id="17"/>
            <p:cNvSpPr txBox="true"/>
            <p:nvPr/>
          </p:nvSpPr>
          <p:spPr>
            <a:xfrm>
              <a:off x="0" y="-47625"/>
              <a:ext cx="2043194" cy="5669284"/>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6605444">
            <a:off x="16590192" y="8195686"/>
            <a:ext cx="5156213" cy="6020510"/>
            <a:chOff x="0" y="0"/>
            <a:chExt cx="696115" cy="812800"/>
          </a:xfrm>
        </p:grpSpPr>
        <p:sp>
          <p:nvSpPr>
            <p:cNvPr name="Freeform 19" id="19"/>
            <p:cNvSpPr/>
            <p:nvPr/>
          </p:nvSpPr>
          <p:spPr>
            <a:xfrm flipH="false" flipV="false" rot="0">
              <a:off x="0" y="0"/>
              <a:ext cx="696115" cy="812800"/>
            </a:xfrm>
            <a:custGeom>
              <a:avLst/>
              <a:gdLst/>
              <a:ahLst/>
              <a:cxnLst/>
              <a:rect r="r" b="b" t="t" l="l"/>
              <a:pathLst>
                <a:path h="812800" w="696115">
                  <a:moveTo>
                    <a:pt x="348058" y="0"/>
                  </a:moveTo>
                  <a:cubicBezTo>
                    <a:pt x="155831" y="0"/>
                    <a:pt x="0" y="181951"/>
                    <a:pt x="0" y="406400"/>
                  </a:cubicBezTo>
                  <a:cubicBezTo>
                    <a:pt x="0" y="630849"/>
                    <a:pt x="155831" y="812800"/>
                    <a:pt x="348058" y="812800"/>
                  </a:cubicBezTo>
                  <a:cubicBezTo>
                    <a:pt x="540285" y="812800"/>
                    <a:pt x="696115" y="630849"/>
                    <a:pt x="696115" y="406400"/>
                  </a:cubicBezTo>
                  <a:cubicBezTo>
                    <a:pt x="696115" y="181951"/>
                    <a:pt x="540285" y="0"/>
                    <a:pt x="348058" y="0"/>
                  </a:cubicBezTo>
                  <a:close/>
                </a:path>
              </a:pathLst>
            </a:custGeom>
            <a:solidFill>
              <a:srgbClr val="143F6F"/>
            </a:solidFill>
          </p:spPr>
        </p:sp>
        <p:sp>
          <p:nvSpPr>
            <p:cNvPr name="TextBox 20" id="20"/>
            <p:cNvSpPr txBox="true"/>
            <p:nvPr/>
          </p:nvSpPr>
          <p:spPr>
            <a:xfrm>
              <a:off x="65261" y="28575"/>
              <a:ext cx="565594" cy="708025"/>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1583033" y="7461642"/>
            <a:ext cx="6792795" cy="490757"/>
          </a:xfrm>
          <a:prstGeom prst="rect">
            <a:avLst/>
          </a:prstGeom>
        </p:spPr>
        <p:txBody>
          <a:bodyPr anchor="t" rtlCol="false" tIns="0" lIns="0" bIns="0" rIns="0">
            <a:spAutoFit/>
          </a:bodyPr>
          <a:lstStyle/>
          <a:p>
            <a:pPr algn="ctr">
              <a:lnSpc>
                <a:spcPts val="3925"/>
              </a:lnSpc>
            </a:pPr>
            <a:r>
              <a:rPr lang="en-US" b="true" sz="2803">
                <a:solidFill>
                  <a:srgbClr val="FEFEFE"/>
                </a:solidFill>
                <a:latin typeface="Roboto Bold"/>
                <a:ea typeface="Roboto Bold"/>
                <a:cs typeface="Roboto Bold"/>
                <a:sym typeface="Roboto Bold"/>
              </a:rPr>
              <a:t>GIẢNG VIÊN HƯỚNG DẪN:</a:t>
            </a:r>
          </a:p>
        </p:txBody>
      </p:sp>
      <p:sp>
        <p:nvSpPr>
          <p:cNvPr name="TextBox 22" id="22"/>
          <p:cNvSpPr txBox="true"/>
          <p:nvPr/>
        </p:nvSpPr>
        <p:spPr>
          <a:xfrm rot="0">
            <a:off x="10466505" y="7454841"/>
            <a:ext cx="6792795" cy="490757"/>
          </a:xfrm>
          <a:prstGeom prst="rect">
            <a:avLst/>
          </a:prstGeom>
        </p:spPr>
        <p:txBody>
          <a:bodyPr anchor="t" rtlCol="false" tIns="0" lIns="0" bIns="0" rIns="0">
            <a:spAutoFit/>
          </a:bodyPr>
          <a:lstStyle/>
          <a:p>
            <a:pPr algn="ctr">
              <a:lnSpc>
                <a:spcPts val="3925"/>
              </a:lnSpc>
            </a:pPr>
            <a:r>
              <a:rPr lang="en-US" b="true" sz="2803">
                <a:solidFill>
                  <a:srgbClr val="FEFEFE"/>
                </a:solidFill>
                <a:latin typeface="Roboto Bold"/>
                <a:ea typeface="Roboto Bold"/>
                <a:cs typeface="Roboto Bold"/>
                <a:sym typeface="Roboto Bold"/>
              </a:rPr>
              <a:t>SINH VIÊN THỰC HIỆN:</a:t>
            </a:r>
          </a:p>
        </p:txBody>
      </p:sp>
      <p:sp>
        <p:nvSpPr>
          <p:cNvPr name="TextBox 23" id="23"/>
          <p:cNvSpPr txBox="true"/>
          <p:nvPr/>
        </p:nvSpPr>
        <p:spPr>
          <a:xfrm rot="0">
            <a:off x="2979053" y="8194605"/>
            <a:ext cx="3904417" cy="382270"/>
          </a:xfrm>
          <a:prstGeom prst="rect">
            <a:avLst/>
          </a:prstGeom>
        </p:spPr>
        <p:txBody>
          <a:bodyPr anchor="t" rtlCol="false" tIns="0" lIns="0" bIns="0" rIns="0">
            <a:spAutoFit/>
          </a:bodyPr>
          <a:lstStyle/>
          <a:p>
            <a:pPr algn="ctr">
              <a:lnSpc>
                <a:spcPts val="3079"/>
              </a:lnSpc>
              <a:spcBef>
                <a:spcPct val="0"/>
              </a:spcBef>
            </a:pPr>
            <a:r>
              <a:rPr lang="en-US" b="true" sz="2199">
                <a:solidFill>
                  <a:srgbClr val="FEFEFE"/>
                </a:solidFill>
                <a:latin typeface="Roboto Bold"/>
                <a:ea typeface="Roboto Bold"/>
                <a:cs typeface="Roboto Bold"/>
                <a:sym typeface="Roboto Bold"/>
              </a:rPr>
              <a:t>PGS. TS. NGUYỄN TUẤN ĐĂNG</a:t>
            </a:r>
          </a:p>
        </p:txBody>
      </p:sp>
      <p:sp>
        <p:nvSpPr>
          <p:cNvPr name="TextBox 24" id="24"/>
          <p:cNvSpPr txBox="true"/>
          <p:nvPr/>
        </p:nvSpPr>
        <p:spPr>
          <a:xfrm rot="0">
            <a:off x="11955901" y="8190149"/>
            <a:ext cx="4019788" cy="772795"/>
          </a:xfrm>
          <a:prstGeom prst="rect">
            <a:avLst/>
          </a:prstGeom>
        </p:spPr>
        <p:txBody>
          <a:bodyPr anchor="t" rtlCol="false" tIns="0" lIns="0" bIns="0" rIns="0">
            <a:spAutoFit/>
          </a:bodyPr>
          <a:lstStyle/>
          <a:p>
            <a:pPr algn="ctr">
              <a:lnSpc>
                <a:spcPts val="3079"/>
              </a:lnSpc>
              <a:spcBef>
                <a:spcPct val="0"/>
              </a:spcBef>
            </a:pPr>
            <a:r>
              <a:rPr lang="en-US" b="true" sz="2199">
                <a:solidFill>
                  <a:srgbClr val="FEFEFE"/>
                </a:solidFill>
                <a:latin typeface="Roboto Bold"/>
                <a:ea typeface="Roboto Bold"/>
                <a:cs typeface="Roboto Bold"/>
                <a:sym typeface="Roboto Bold"/>
              </a:rPr>
              <a:t>TRẦN HỬU HẬU - 3121411068</a:t>
            </a:r>
          </a:p>
          <a:p>
            <a:pPr algn="ctr">
              <a:lnSpc>
                <a:spcPts val="3079"/>
              </a:lnSpc>
              <a:spcBef>
                <a:spcPct val="0"/>
              </a:spcBef>
            </a:pPr>
            <a:r>
              <a:rPr lang="en-US" b="true" sz="2199">
                <a:solidFill>
                  <a:srgbClr val="FEFEFE"/>
                </a:solidFill>
                <a:latin typeface="Roboto Bold"/>
                <a:ea typeface="Roboto Bold"/>
                <a:cs typeface="Roboto Bold"/>
                <a:sym typeface="Roboto Bold"/>
              </a:rPr>
              <a:t> VÕ KHÁNH LINH - 3121411122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TextBox 2" id="2"/>
          <p:cNvSpPr txBox="true"/>
          <p:nvPr/>
        </p:nvSpPr>
        <p:spPr>
          <a:xfrm rot="0">
            <a:off x="1590995" y="3966677"/>
            <a:ext cx="4535409" cy="1294884"/>
          </a:xfrm>
          <a:prstGeom prst="rect">
            <a:avLst/>
          </a:prstGeom>
        </p:spPr>
        <p:txBody>
          <a:bodyPr anchor="t" rtlCol="false" tIns="0" lIns="0" bIns="0" rIns="0">
            <a:spAutoFit/>
          </a:bodyPr>
          <a:lstStyle/>
          <a:p>
            <a:pPr algn="l">
              <a:lnSpc>
                <a:spcPts val="10528"/>
              </a:lnSpc>
              <a:spcBef>
                <a:spcPct val="0"/>
              </a:spcBef>
            </a:pPr>
            <a:r>
              <a:rPr lang="en-US" b="true" sz="7520">
                <a:solidFill>
                  <a:srgbClr val="FEFEFE"/>
                </a:solidFill>
                <a:latin typeface="Roboto Bold"/>
                <a:ea typeface="Roboto Bold"/>
                <a:cs typeface="Roboto Bold"/>
                <a:sym typeface="Roboto Bold"/>
              </a:rPr>
              <a:t>Nội dung</a:t>
            </a:r>
          </a:p>
        </p:txBody>
      </p:sp>
      <p:grpSp>
        <p:nvGrpSpPr>
          <p:cNvPr name="Group 3" id="3"/>
          <p:cNvGrpSpPr/>
          <p:nvPr/>
        </p:nvGrpSpPr>
        <p:grpSpPr>
          <a:xfrm rot="0">
            <a:off x="-1867766" y="-1614217"/>
            <a:ext cx="3735531" cy="373553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5400000">
            <a:off x="7134354" y="2186658"/>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8053310" y="2123311"/>
            <a:ext cx="4618522"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Mở đầu</a:t>
            </a:r>
          </a:p>
        </p:txBody>
      </p:sp>
      <p:sp>
        <p:nvSpPr>
          <p:cNvPr name="Freeform 8" id="8"/>
          <p:cNvSpPr/>
          <p:nvPr/>
        </p:nvSpPr>
        <p:spPr>
          <a:xfrm flipH="false" flipV="false" rot="5400000">
            <a:off x="7134354" y="2952336"/>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8053310" y="2888988"/>
            <a:ext cx="7059579"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Xử lý ngôn ngữ tự nhiên (NLP)</a:t>
            </a:r>
          </a:p>
        </p:txBody>
      </p:sp>
      <p:sp>
        <p:nvSpPr>
          <p:cNvPr name="Freeform 10" id="10"/>
          <p:cNvSpPr/>
          <p:nvPr/>
        </p:nvSpPr>
        <p:spPr>
          <a:xfrm flipH="false" flipV="false" rot="5400000">
            <a:off x="7134354" y="3717683"/>
            <a:ext cx="625434" cy="554930"/>
          </a:xfrm>
          <a:custGeom>
            <a:avLst/>
            <a:gdLst/>
            <a:ahLst/>
            <a:cxnLst/>
            <a:rect r="r" b="b" t="t" l="l"/>
            <a:pathLst>
              <a:path h="554930" w="625434">
                <a:moveTo>
                  <a:pt x="0" y="0"/>
                </a:moveTo>
                <a:lnTo>
                  <a:pt x="625434" y="0"/>
                </a:lnTo>
                <a:lnTo>
                  <a:pt x="625434" y="554931"/>
                </a:lnTo>
                <a:lnTo>
                  <a:pt x="0" y="5549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8053310" y="3654336"/>
            <a:ext cx="5695112"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Tổng quan về bài toán NER</a:t>
            </a:r>
          </a:p>
        </p:txBody>
      </p:sp>
      <p:sp>
        <p:nvSpPr>
          <p:cNvPr name="Freeform 12" id="12"/>
          <p:cNvSpPr/>
          <p:nvPr/>
        </p:nvSpPr>
        <p:spPr>
          <a:xfrm flipH="false" flipV="false" rot="5400000">
            <a:off x="7134354" y="4483361"/>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8053310" y="4420013"/>
            <a:ext cx="7059579"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Các mô hình ngôn ngữ lớn (LLMs)</a:t>
            </a:r>
          </a:p>
        </p:txBody>
      </p:sp>
      <p:sp>
        <p:nvSpPr>
          <p:cNvPr name="Freeform 14" id="14"/>
          <p:cNvSpPr/>
          <p:nvPr/>
        </p:nvSpPr>
        <p:spPr>
          <a:xfrm flipH="false" flipV="false" rot="5400000">
            <a:off x="7134354" y="5248709"/>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8053310" y="5185361"/>
            <a:ext cx="6873344"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Tập dữ liệu PhoNER_COVID19</a:t>
            </a:r>
          </a:p>
        </p:txBody>
      </p:sp>
      <p:sp>
        <p:nvSpPr>
          <p:cNvPr name="Freeform 16" id="16"/>
          <p:cNvSpPr/>
          <p:nvPr/>
        </p:nvSpPr>
        <p:spPr>
          <a:xfrm flipH="false" flipV="false" rot="5400000">
            <a:off x="7134354" y="6014386"/>
            <a:ext cx="625434" cy="554930"/>
          </a:xfrm>
          <a:custGeom>
            <a:avLst/>
            <a:gdLst/>
            <a:ahLst/>
            <a:cxnLst/>
            <a:rect r="r" b="b" t="t" l="l"/>
            <a:pathLst>
              <a:path h="554930" w="625434">
                <a:moveTo>
                  <a:pt x="0" y="0"/>
                </a:moveTo>
                <a:lnTo>
                  <a:pt x="625434" y="0"/>
                </a:lnTo>
                <a:lnTo>
                  <a:pt x="625434" y="554931"/>
                </a:lnTo>
                <a:lnTo>
                  <a:pt x="0" y="5549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8053310" y="5951039"/>
            <a:ext cx="7410121"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Thực nghiệm </a:t>
            </a:r>
          </a:p>
        </p:txBody>
      </p:sp>
      <p:sp>
        <p:nvSpPr>
          <p:cNvPr name="Freeform 18" id="18"/>
          <p:cNvSpPr/>
          <p:nvPr/>
        </p:nvSpPr>
        <p:spPr>
          <a:xfrm flipH="false" flipV="false" rot="5400000">
            <a:off x="7134354" y="6779734"/>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9" id="19"/>
          <p:cNvSpPr txBox="true"/>
          <p:nvPr/>
        </p:nvSpPr>
        <p:spPr>
          <a:xfrm rot="0">
            <a:off x="8053310" y="6716386"/>
            <a:ext cx="5383275"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Đánh giá kết quả</a:t>
            </a:r>
          </a:p>
        </p:txBody>
      </p:sp>
      <p:sp>
        <p:nvSpPr>
          <p:cNvPr name="Freeform 20" id="20"/>
          <p:cNvSpPr/>
          <p:nvPr/>
        </p:nvSpPr>
        <p:spPr>
          <a:xfrm flipH="false" flipV="false" rot="5400000">
            <a:off x="7134354" y="7545412"/>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1" id="21"/>
          <p:cNvSpPr txBox="true"/>
          <p:nvPr/>
        </p:nvSpPr>
        <p:spPr>
          <a:xfrm rot="0">
            <a:off x="8053310" y="7482064"/>
            <a:ext cx="6596674"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Kết luận và hướng phát triển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C2F1"/>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5286081" y="4217981"/>
            <a:ext cx="7715839" cy="1442796"/>
          </a:xfrm>
          <a:prstGeom prst="rect">
            <a:avLst/>
          </a:prstGeom>
        </p:spPr>
        <p:txBody>
          <a:bodyPr anchor="t" rtlCol="false" tIns="0" lIns="0" bIns="0" rIns="0">
            <a:spAutoFit/>
          </a:bodyPr>
          <a:lstStyle/>
          <a:p>
            <a:pPr algn="ctr">
              <a:lnSpc>
                <a:spcPts val="10174"/>
              </a:lnSpc>
            </a:pPr>
            <a:r>
              <a:rPr lang="en-US" sz="12258" b="true">
                <a:solidFill>
                  <a:srgbClr val="FEFEFE"/>
                </a:solidFill>
                <a:latin typeface="Roboto Bold"/>
                <a:ea typeface="Roboto Bold"/>
                <a:cs typeface="Roboto Bold"/>
                <a:sym typeface="Roboto Bold"/>
              </a:rPr>
              <a:t>MỞ ĐẦU</a:t>
            </a:r>
          </a:p>
        </p:txBody>
      </p:sp>
      <p:sp>
        <p:nvSpPr>
          <p:cNvPr name="Freeform 11" id="11"/>
          <p:cNvSpPr/>
          <p:nvPr/>
        </p:nvSpPr>
        <p:spPr>
          <a:xfrm flipH="false" flipV="false" rot="0">
            <a:off x="3222360" y="4271296"/>
            <a:ext cx="1483489" cy="458533"/>
          </a:xfrm>
          <a:custGeom>
            <a:avLst/>
            <a:gdLst/>
            <a:ahLst/>
            <a:cxnLst/>
            <a:rect r="r" b="b" t="t" l="l"/>
            <a:pathLst>
              <a:path h="458533" w="1483489">
                <a:moveTo>
                  <a:pt x="0" y="0"/>
                </a:moveTo>
                <a:lnTo>
                  <a:pt x="1483489" y="0"/>
                </a:lnTo>
                <a:lnTo>
                  <a:pt x="1483489" y="458533"/>
                </a:lnTo>
                <a:lnTo>
                  <a:pt x="0" y="4585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028700" y="-252231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7843805" y="893148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1623459" y="-260867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438563" y="884512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3893714" y="1616365"/>
            <a:ext cx="13040428" cy="7857069"/>
            <a:chOff x="0" y="0"/>
            <a:chExt cx="3791660" cy="2284537"/>
          </a:xfrm>
        </p:grpSpPr>
        <p:sp>
          <p:nvSpPr>
            <p:cNvPr name="Freeform 6" id="6"/>
            <p:cNvSpPr/>
            <p:nvPr/>
          </p:nvSpPr>
          <p:spPr>
            <a:xfrm flipH="false" flipV="false" rot="0">
              <a:off x="0" y="0"/>
              <a:ext cx="3791660" cy="2284537"/>
            </a:xfrm>
            <a:custGeom>
              <a:avLst/>
              <a:gdLst/>
              <a:ahLst/>
              <a:cxnLst/>
              <a:rect r="r" b="b" t="t" l="l"/>
              <a:pathLst>
                <a:path h="2284537" w="3791660">
                  <a:moveTo>
                    <a:pt x="30278" y="0"/>
                  </a:moveTo>
                  <a:lnTo>
                    <a:pt x="3761382" y="0"/>
                  </a:lnTo>
                  <a:cubicBezTo>
                    <a:pt x="3778104" y="0"/>
                    <a:pt x="3791660" y="13556"/>
                    <a:pt x="3791660" y="30278"/>
                  </a:cubicBezTo>
                  <a:lnTo>
                    <a:pt x="3791660" y="2254259"/>
                  </a:lnTo>
                  <a:cubicBezTo>
                    <a:pt x="3791660" y="2270981"/>
                    <a:pt x="3778104" y="2284537"/>
                    <a:pt x="3761382" y="2284537"/>
                  </a:cubicBezTo>
                  <a:lnTo>
                    <a:pt x="30278" y="2284537"/>
                  </a:lnTo>
                  <a:cubicBezTo>
                    <a:pt x="22248" y="2284537"/>
                    <a:pt x="14546" y="2281347"/>
                    <a:pt x="8868" y="2275668"/>
                  </a:cubicBezTo>
                  <a:cubicBezTo>
                    <a:pt x="3190" y="2269990"/>
                    <a:pt x="0" y="2262289"/>
                    <a:pt x="0" y="2254259"/>
                  </a:cubicBezTo>
                  <a:lnTo>
                    <a:pt x="0" y="30278"/>
                  </a:lnTo>
                  <a:cubicBezTo>
                    <a:pt x="0" y="22248"/>
                    <a:pt x="3190" y="14546"/>
                    <a:pt x="8868" y="8868"/>
                  </a:cubicBezTo>
                  <a:cubicBezTo>
                    <a:pt x="14546" y="3190"/>
                    <a:pt x="22248" y="0"/>
                    <a:pt x="30278" y="0"/>
                  </a:cubicBezTo>
                  <a:close/>
                </a:path>
              </a:pathLst>
            </a:custGeom>
            <a:solidFill>
              <a:srgbClr val="143F6F"/>
            </a:solidFill>
          </p:spPr>
        </p:sp>
        <p:sp>
          <p:nvSpPr>
            <p:cNvPr name="TextBox 7" id="7"/>
            <p:cNvSpPr txBox="true"/>
            <p:nvPr/>
          </p:nvSpPr>
          <p:spPr>
            <a:xfrm>
              <a:off x="0" y="-47625"/>
              <a:ext cx="3791660" cy="2332162"/>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315065" y="522624"/>
            <a:ext cx="6978288" cy="897853"/>
          </a:xfrm>
          <a:prstGeom prst="rect">
            <a:avLst/>
          </a:prstGeom>
        </p:spPr>
        <p:txBody>
          <a:bodyPr anchor="t" rtlCol="false" tIns="0" lIns="0" bIns="0" rIns="0">
            <a:spAutoFit/>
          </a:bodyPr>
          <a:lstStyle/>
          <a:p>
            <a:pPr algn="l">
              <a:lnSpc>
                <a:spcPts val="7212"/>
              </a:lnSpc>
            </a:pPr>
            <a:r>
              <a:rPr lang="en-US" b="true" sz="5151">
                <a:solidFill>
                  <a:srgbClr val="143F6F"/>
                </a:solidFill>
                <a:latin typeface="Roboto Bold"/>
                <a:ea typeface="Roboto Bold"/>
                <a:cs typeface="Roboto Bold"/>
                <a:sym typeface="Roboto Bold"/>
              </a:rPr>
              <a:t>LÝ DO CHỌN ĐỀ TÀI</a:t>
            </a:r>
          </a:p>
        </p:txBody>
      </p:sp>
      <p:grpSp>
        <p:nvGrpSpPr>
          <p:cNvPr name="Group 9" id="9"/>
          <p:cNvGrpSpPr/>
          <p:nvPr/>
        </p:nvGrpSpPr>
        <p:grpSpPr>
          <a:xfrm rot="0">
            <a:off x="2364295" y="2341285"/>
            <a:ext cx="2033177" cy="1692290"/>
            <a:chOff x="0" y="0"/>
            <a:chExt cx="976527" cy="812800"/>
          </a:xfrm>
        </p:grpSpPr>
        <p:sp>
          <p:nvSpPr>
            <p:cNvPr name="Freeform 10" id="10"/>
            <p:cNvSpPr/>
            <p:nvPr/>
          </p:nvSpPr>
          <p:spPr>
            <a:xfrm flipH="false" flipV="false" rot="0">
              <a:off x="0" y="0"/>
              <a:ext cx="976527" cy="812800"/>
            </a:xfrm>
            <a:custGeom>
              <a:avLst/>
              <a:gdLst/>
              <a:ahLst/>
              <a:cxnLst/>
              <a:rect r="r" b="b" t="t" l="l"/>
              <a:pathLst>
                <a:path h="812800" w="976527">
                  <a:moveTo>
                    <a:pt x="488263" y="0"/>
                  </a:moveTo>
                  <a:cubicBezTo>
                    <a:pt x="218603" y="0"/>
                    <a:pt x="0" y="181951"/>
                    <a:pt x="0" y="406400"/>
                  </a:cubicBezTo>
                  <a:cubicBezTo>
                    <a:pt x="0" y="630849"/>
                    <a:pt x="218603" y="812800"/>
                    <a:pt x="488263" y="812800"/>
                  </a:cubicBezTo>
                  <a:cubicBezTo>
                    <a:pt x="757924" y="812800"/>
                    <a:pt x="976527" y="630849"/>
                    <a:pt x="976527" y="406400"/>
                  </a:cubicBezTo>
                  <a:cubicBezTo>
                    <a:pt x="976527" y="181951"/>
                    <a:pt x="757924" y="0"/>
                    <a:pt x="488263" y="0"/>
                  </a:cubicBezTo>
                  <a:close/>
                </a:path>
              </a:pathLst>
            </a:custGeom>
            <a:solidFill>
              <a:srgbClr val="FEFEFE"/>
            </a:solidFill>
          </p:spPr>
        </p:sp>
        <p:sp>
          <p:nvSpPr>
            <p:cNvPr name="TextBox 11" id="11"/>
            <p:cNvSpPr txBox="true"/>
            <p:nvPr/>
          </p:nvSpPr>
          <p:spPr>
            <a:xfrm>
              <a:off x="91549" y="28575"/>
              <a:ext cx="793428" cy="70802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2364295" y="4699591"/>
            <a:ext cx="2033177" cy="1692290"/>
            <a:chOff x="0" y="0"/>
            <a:chExt cx="976527" cy="812800"/>
          </a:xfrm>
        </p:grpSpPr>
        <p:sp>
          <p:nvSpPr>
            <p:cNvPr name="Freeform 13" id="13"/>
            <p:cNvSpPr/>
            <p:nvPr/>
          </p:nvSpPr>
          <p:spPr>
            <a:xfrm flipH="false" flipV="false" rot="0">
              <a:off x="0" y="0"/>
              <a:ext cx="976527" cy="812800"/>
            </a:xfrm>
            <a:custGeom>
              <a:avLst/>
              <a:gdLst/>
              <a:ahLst/>
              <a:cxnLst/>
              <a:rect r="r" b="b" t="t" l="l"/>
              <a:pathLst>
                <a:path h="812800" w="976527">
                  <a:moveTo>
                    <a:pt x="488263" y="0"/>
                  </a:moveTo>
                  <a:cubicBezTo>
                    <a:pt x="218603" y="0"/>
                    <a:pt x="0" y="181951"/>
                    <a:pt x="0" y="406400"/>
                  </a:cubicBezTo>
                  <a:cubicBezTo>
                    <a:pt x="0" y="630849"/>
                    <a:pt x="218603" y="812800"/>
                    <a:pt x="488263" y="812800"/>
                  </a:cubicBezTo>
                  <a:cubicBezTo>
                    <a:pt x="757924" y="812800"/>
                    <a:pt x="976527" y="630849"/>
                    <a:pt x="976527" y="406400"/>
                  </a:cubicBezTo>
                  <a:cubicBezTo>
                    <a:pt x="976527" y="181951"/>
                    <a:pt x="757924" y="0"/>
                    <a:pt x="488263" y="0"/>
                  </a:cubicBezTo>
                  <a:close/>
                </a:path>
              </a:pathLst>
            </a:custGeom>
            <a:solidFill>
              <a:srgbClr val="FEFEFE"/>
            </a:solidFill>
          </p:spPr>
        </p:sp>
        <p:sp>
          <p:nvSpPr>
            <p:cNvPr name="TextBox 14" id="14"/>
            <p:cNvSpPr txBox="true"/>
            <p:nvPr/>
          </p:nvSpPr>
          <p:spPr>
            <a:xfrm>
              <a:off x="91549" y="28575"/>
              <a:ext cx="793428" cy="70802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2364295" y="7056223"/>
            <a:ext cx="2033177" cy="1692290"/>
            <a:chOff x="0" y="0"/>
            <a:chExt cx="976527" cy="812800"/>
          </a:xfrm>
        </p:grpSpPr>
        <p:sp>
          <p:nvSpPr>
            <p:cNvPr name="Freeform 16" id="16"/>
            <p:cNvSpPr/>
            <p:nvPr/>
          </p:nvSpPr>
          <p:spPr>
            <a:xfrm flipH="false" flipV="false" rot="0">
              <a:off x="0" y="0"/>
              <a:ext cx="976527" cy="812800"/>
            </a:xfrm>
            <a:custGeom>
              <a:avLst/>
              <a:gdLst/>
              <a:ahLst/>
              <a:cxnLst/>
              <a:rect r="r" b="b" t="t" l="l"/>
              <a:pathLst>
                <a:path h="812800" w="976527">
                  <a:moveTo>
                    <a:pt x="488263" y="0"/>
                  </a:moveTo>
                  <a:cubicBezTo>
                    <a:pt x="218603" y="0"/>
                    <a:pt x="0" y="181951"/>
                    <a:pt x="0" y="406400"/>
                  </a:cubicBezTo>
                  <a:cubicBezTo>
                    <a:pt x="0" y="630849"/>
                    <a:pt x="218603" y="812800"/>
                    <a:pt x="488263" y="812800"/>
                  </a:cubicBezTo>
                  <a:cubicBezTo>
                    <a:pt x="757924" y="812800"/>
                    <a:pt x="976527" y="630849"/>
                    <a:pt x="976527" y="406400"/>
                  </a:cubicBezTo>
                  <a:cubicBezTo>
                    <a:pt x="976527" y="181951"/>
                    <a:pt x="757924" y="0"/>
                    <a:pt x="488263" y="0"/>
                  </a:cubicBezTo>
                  <a:close/>
                </a:path>
              </a:pathLst>
            </a:custGeom>
            <a:solidFill>
              <a:srgbClr val="FEFEFE"/>
            </a:solidFill>
          </p:spPr>
        </p:sp>
        <p:sp>
          <p:nvSpPr>
            <p:cNvPr name="TextBox 17" id="17"/>
            <p:cNvSpPr txBox="true"/>
            <p:nvPr/>
          </p:nvSpPr>
          <p:spPr>
            <a:xfrm>
              <a:off x="91549" y="28575"/>
              <a:ext cx="793428" cy="708025"/>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2489136" y="2612939"/>
            <a:ext cx="1783495" cy="1209828"/>
          </a:xfrm>
          <a:prstGeom prst="rect">
            <a:avLst/>
          </a:prstGeom>
        </p:spPr>
        <p:txBody>
          <a:bodyPr anchor="t" rtlCol="false" tIns="0" lIns="0" bIns="0" rIns="0">
            <a:spAutoFit/>
          </a:bodyPr>
          <a:lstStyle/>
          <a:p>
            <a:pPr algn="ctr">
              <a:lnSpc>
                <a:spcPts val="9966"/>
              </a:lnSpc>
            </a:pPr>
            <a:r>
              <a:rPr lang="en-US" b="true" sz="7118">
                <a:solidFill>
                  <a:srgbClr val="143F6F"/>
                </a:solidFill>
                <a:latin typeface="Roboto Bold"/>
                <a:ea typeface="Roboto Bold"/>
                <a:cs typeface="Roboto Bold"/>
                <a:sym typeface="Roboto Bold"/>
              </a:rPr>
              <a:t>1</a:t>
            </a:r>
          </a:p>
        </p:txBody>
      </p:sp>
      <p:sp>
        <p:nvSpPr>
          <p:cNvPr name="TextBox 19" id="19"/>
          <p:cNvSpPr txBox="true"/>
          <p:nvPr/>
        </p:nvSpPr>
        <p:spPr>
          <a:xfrm rot="0">
            <a:off x="2489136" y="4962618"/>
            <a:ext cx="1783495" cy="1209828"/>
          </a:xfrm>
          <a:prstGeom prst="rect">
            <a:avLst/>
          </a:prstGeom>
        </p:spPr>
        <p:txBody>
          <a:bodyPr anchor="t" rtlCol="false" tIns="0" lIns="0" bIns="0" rIns="0">
            <a:spAutoFit/>
          </a:bodyPr>
          <a:lstStyle/>
          <a:p>
            <a:pPr algn="ctr">
              <a:lnSpc>
                <a:spcPts val="9966"/>
              </a:lnSpc>
            </a:pPr>
            <a:r>
              <a:rPr lang="en-US" b="true" sz="7118">
                <a:solidFill>
                  <a:srgbClr val="143F6F"/>
                </a:solidFill>
                <a:latin typeface="Roboto Bold"/>
                <a:ea typeface="Roboto Bold"/>
                <a:cs typeface="Roboto Bold"/>
                <a:sym typeface="Roboto Bold"/>
              </a:rPr>
              <a:t>2</a:t>
            </a:r>
          </a:p>
        </p:txBody>
      </p:sp>
      <p:sp>
        <p:nvSpPr>
          <p:cNvPr name="TextBox 20" id="20"/>
          <p:cNvSpPr txBox="true"/>
          <p:nvPr/>
        </p:nvSpPr>
        <p:spPr>
          <a:xfrm rot="0">
            <a:off x="2489136" y="7319753"/>
            <a:ext cx="1783495" cy="1209828"/>
          </a:xfrm>
          <a:prstGeom prst="rect">
            <a:avLst/>
          </a:prstGeom>
        </p:spPr>
        <p:txBody>
          <a:bodyPr anchor="t" rtlCol="false" tIns="0" lIns="0" bIns="0" rIns="0">
            <a:spAutoFit/>
          </a:bodyPr>
          <a:lstStyle/>
          <a:p>
            <a:pPr algn="ctr">
              <a:lnSpc>
                <a:spcPts val="9966"/>
              </a:lnSpc>
            </a:pPr>
            <a:r>
              <a:rPr lang="en-US" b="true" sz="7118">
                <a:solidFill>
                  <a:srgbClr val="143F6F"/>
                </a:solidFill>
                <a:latin typeface="Roboto Bold"/>
                <a:ea typeface="Roboto Bold"/>
                <a:cs typeface="Roboto Bold"/>
                <a:sym typeface="Roboto Bold"/>
              </a:rPr>
              <a:t>3</a:t>
            </a:r>
          </a:p>
        </p:txBody>
      </p:sp>
      <p:sp>
        <p:nvSpPr>
          <p:cNvPr name="TextBox 21" id="21"/>
          <p:cNvSpPr txBox="true"/>
          <p:nvPr/>
        </p:nvSpPr>
        <p:spPr>
          <a:xfrm rot="0">
            <a:off x="5026941" y="2777064"/>
            <a:ext cx="11144211" cy="640471"/>
          </a:xfrm>
          <a:prstGeom prst="rect">
            <a:avLst/>
          </a:prstGeom>
        </p:spPr>
        <p:txBody>
          <a:bodyPr anchor="t" rtlCol="false" tIns="0" lIns="0" bIns="0" rIns="0">
            <a:spAutoFit/>
          </a:bodyPr>
          <a:lstStyle/>
          <a:p>
            <a:pPr algn="l">
              <a:lnSpc>
                <a:spcPts val="5123"/>
              </a:lnSpc>
              <a:spcBef>
                <a:spcPct val="0"/>
              </a:spcBef>
            </a:pPr>
            <a:r>
              <a:rPr lang="en-US" sz="3659">
                <a:solidFill>
                  <a:srgbClr val="FEFEFE"/>
                </a:solidFill>
                <a:latin typeface="Roboto"/>
                <a:ea typeface="Roboto"/>
                <a:cs typeface="Roboto"/>
                <a:sym typeface="Roboto"/>
              </a:rPr>
              <a:t>NER là bài toán quan trọng trong NLP.</a:t>
            </a:r>
          </a:p>
        </p:txBody>
      </p:sp>
      <p:sp>
        <p:nvSpPr>
          <p:cNvPr name="TextBox 22" id="22"/>
          <p:cNvSpPr txBox="true"/>
          <p:nvPr/>
        </p:nvSpPr>
        <p:spPr>
          <a:xfrm rot="0">
            <a:off x="5026941" y="5089901"/>
            <a:ext cx="11452604" cy="640461"/>
          </a:xfrm>
          <a:prstGeom prst="rect">
            <a:avLst/>
          </a:prstGeom>
        </p:spPr>
        <p:txBody>
          <a:bodyPr anchor="t" rtlCol="false" tIns="0" lIns="0" bIns="0" rIns="0">
            <a:spAutoFit/>
          </a:bodyPr>
          <a:lstStyle/>
          <a:p>
            <a:pPr algn="l">
              <a:lnSpc>
                <a:spcPts val="5123"/>
              </a:lnSpc>
              <a:spcBef>
                <a:spcPct val="0"/>
              </a:spcBef>
            </a:pPr>
            <a:r>
              <a:rPr lang="en-US" sz="3659">
                <a:solidFill>
                  <a:srgbClr val="FEFEFE"/>
                </a:solidFill>
                <a:latin typeface="Roboto"/>
                <a:ea typeface="Roboto"/>
                <a:cs typeface="Roboto"/>
                <a:sym typeface="Roboto"/>
              </a:rPr>
              <a:t>Tiếng Việt có cấu trúc ngôn ngữ đặc thù, ít dữ liệu.</a:t>
            </a:r>
          </a:p>
        </p:txBody>
      </p:sp>
      <p:sp>
        <p:nvSpPr>
          <p:cNvPr name="TextBox 23" id="23"/>
          <p:cNvSpPr txBox="true"/>
          <p:nvPr/>
        </p:nvSpPr>
        <p:spPr>
          <a:xfrm rot="0">
            <a:off x="5026941" y="7322439"/>
            <a:ext cx="11144211" cy="1935861"/>
          </a:xfrm>
          <a:prstGeom prst="rect">
            <a:avLst/>
          </a:prstGeom>
        </p:spPr>
        <p:txBody>
          <a:bodyPr anchor="t" rtlCol="false" tIns="0" lIns="0" bIns="0" rIns="0">
            <a:spAutoFit/>
          </a:bodyPr>
          <a:lstStyle/>
          <a:p>
            <a:pPr algn="l">
              <a:lnSpc>
                <a:spcPts val="5123"/>
              </a:lnSpc>
            </a:pPr>
            <a:r>
              <a:rPr lang="en-US" sz="3659">
                <a:solidFill>
                  <a:srgbClr val="FEFEFE"/>
                </a:solidFill>
                <a:latin typeface="Roboto"/>
                <a:ea typeface="Roboto"/>
                <a:cs typeface="Roboto"/>
                <a:sym typeface="Roboto"/>
              </a:rPr>
              <a:t>PhoBERT là mô hình ngôn ngữ được thiết kế riêng cho tiếng Việt.</a:t>
            </a:r>
          </a:p>
          <a:p>
            <a:pPr algn="l">
              <a:lnSpc>
                <a:spcPts val="5123"/>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1623459" y="-260867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438563" y="884512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3893714" y="1616365"/>
            <a:ext cx="13040428" cy="7857069"/>
            <a:chOff x="0" y="0"/>
            <a:chExt cx="3791660" cy="2284537"/>
          </a:xfrm>
        </p:grpSpPr>
        <p:sp>
          <p:nvSpPr>
            <p:cNvPr name="Freeform 6" id="6"/>
            <p:cNvSpPr/>
            <p:nvPr/>
          </p:nvSpPr>
          <p:spPr>
            <a:xfrm flipH="false" flipV="false" rot="0">
              <a:off x="0" y="0"/>
              <a:ext cx="3791660" cy="2284537"/>
            </a:xfrm>
            <a:custGeom>
              <a:avLst/>
              <a:gdLst/>
              <a:ahLst/>
              <a:cxnLst/>
              <a:rect r="r" b="b" t="t" l="l"/>
              <a:pathLst>
                <a:path h="2284537" w="3791660">
                  <a:moveTo>
                    <a:pt x="30278" y="0"/>
                  </a:moveTo>
                  <a:lnTo>
                    <a:pt x="3761382" y="0"/>
                  </a:lnTo>
                  <a:cubicBezTo>
                    <a:pt x="3778104" y="0"/>
                    <a:pt x="3791660" y="13556"/>
                    <a:pt x="3791660" y="30278"/>
                  </a:cubicBezTo>
                  <a:lnTo>
                    <a:pt x="3791660" y="2254259"/>
                  </a:lnTo>
                  <a:cubicBezTo>
                    <a:pt x="3791660" y="2270981"/>
                    <a:pt x="3778104" y="2284537"/>
                    <a:pt x="3761382" y="2284537"/>
                  </a:cubicBezTo>
                  <a:lnTo>
                    <a:pt x="30278" y="2284537"/>
                  </a:lnTo>
                  <a:cubicBezTo>
                    <a:pt x="22248" y="2284537"/>
                    <a:pt x="14546" y="2281347"/>
                    <a:pt x="8868" y="2275668"/>
                  </a:cubicBezTo>
                  <a:cubicBezTo>
                    <a:pt x="3190" y="2269990"/>
                    <a:pt x="0" y="2262289"/>
                    <a:pt x="0" y="2254259"/>
                  </a:cubicBezTo>
                  <a:lnTo>
                    <a:pt x="0" y="30278"/>
                  </a:lnTo>
                  <a:cubicBezTo>
                    <a:pt x="0" y="22248"/>
                    <a:pt x="3190" y="14546"/>
                    <a:pt x="8868" y="8868"/>
                  </a:cubicBezTo>
                  <a:cubicBezTo>
                    <a:pt x="14546" y="3190"/>
                    <a:pt x="22248" y="0"/>
                    <a:pt x="30278" y="0"/>
                  </a:cubicBezTo>
                  <a:close/>
                </a:path>
              </a:pathLst>
            </a:custGeom>
            <a:solidFill>
              <a:srgbClr val="143F6F"/>
            </a:solidFill>
          </p:spPr>
        </p:sp>
        <p:sp>
          <p:nvSpPr>
            <p:cNvPr name="TextBox 7" id="7"/>
            <p:cNvSpPr txBox="true"/>
            <p:nvPr/>
          </p:nvSpPr>
          <p:spPr>
            <a:xfrm>
              <a:off x="0" y="-47625"/>
              <a:ext cx="3791660" cy="2332162"/>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315065" y="522624"/>
            <a:ext cx="8615558" cy="897853"/>
          </a:xfrm>
          <a:prstGeom prst="rect">
            <a:avLst/>
          </a:prstGeom>
        </p:spPr>
        <p:txBody>
          <a:bodyPr anchor="t" rtlCol="false" tIns="0" lIns="0" bIns="0" rIns="0">
            <a:spAutoFit/>
          </a:bodyPr>
          <a:lstStyle/>
          <a:p>
            <a:pPr algn="l">
              <a:lnSpc>
                <a:spcPts val="7212"/>
              </a:lnSpc>
            </a:pPr>
            <a:r>
              <a:rPr lang="en-US" b="true" sz="5151">
                <a:solidFill>
                  <a:srgbClr val="143F6F"/>
                </a:solidFill>
                <a:latin typeface="Roboto Bold"/>
                <a:ea typeface="Roboto Bold"/>
                <a:cs typeface="Roboto Bold"/>
                <a:sym typeface="Roboto Bold"/>
              </a:rPr>
              <a:t>MỤC TIÊU NGHIÊN CỨU</a:t>
            </a:r>
          </a:p>
        </p:txBody>
      </p:sp>
      <p:grpSp>
        <p:nvGrpSpPr>
          <p:cNvPr name="Group 9" id="9"/>
          <p:cNvGrpSpPr/>
          <p:nvPr/>
        </p:nvGrpSpPr>
        <p:grpSpPr>
          <a:xfrm rot="0">
            <a:off x="2364295" y="2341285"/>
            <a:ext cx="2033177" cy="1692290"/>
            <a:chOff x="0" y="0"/>
            <a:chExt cx="976527" cy="812800"/>
          </a:xfrm>
        </p:grpSpPr>
        <p:sp>
          <p:nvSpPr>
            <p:cNvPr name="Freeform 10" id="10"/>
            <p:cNvSpPr/>
            <p:nvPr/>
          </p:nvSpPr>
          <p:spPr>
            <a:xfrm flipH="false" flipV="false" rot="0">
              <a:off x="0" y="0"/>
              <a:ext cx="976527" cy="812800"/>
            </a:xfrm>
            <a:custGeom>
              <a:avLst/>
              <a:gdLst/>
              <a:ahLst/>
              <a:cxnLst/>
              <a:rect r="r" b="b" t="t" l="l"/>
              <a:pathLst>
                <a:path h="812800" w="976527">
                  <a:moveTo>
                    <a:pt x="488263" y="0"/>
                  </a:moveTo>
                  <a:cubicBezTo>
                    <a:pt x="218603" y="0"/>
                    <a:pt x="0" y="181951"/>
                    <a:pt x="0" y="406400"/>
                  </a:cubicBezTo>
                  <a:cubicBezTo>
                    <a:pt x="0" y="630849"/>
                    <a:pt x="218603" y="812800"/>
                    <a:pt x="488263" y="812800"/>
                  </a:cubicBezTo>
                  <a:cubicBezTo>
                    <a:pt x="757924" y="812800"/>
                    <a:pt x="976527" y="630849"/>
                    <a:pt x="976527" y="406400"/>
                  </a:cubicBezTo>
                  <a:cubicBezTo>
                    <a:pt x="976527" y="181951"/>
                    <a:pt x="757924" y="0"/>
                    <a:pt x="488263" y="0"/>
                  </a:cubicBezTo>
                  <a:close/>
                </a:path>
              </a:pathLst>
            </a:custGeom>
            <a:solidFill>
              <a:srgbClr val="FEFEFE"/>
            </a:solidFill>
          </p:spPr>
        </p:sp>
        <p:sp>
          <p:nvSpPr>
            <p:cNvPr name="TextBox 11" id="11"/>
            <p:cNvSpPr txBox="true"/>
            <p:nvPr/>
          </p:nvSpPr>
          <p:spPr>
            <a:xfrm>
              <a:off x="91549" y="28575"/>
              <a:ext cx="793428" cy="70802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2364295" y="4699591"/>
            <a:ext cx="2033177" cy="1692290"/>
            <a:chOff x="0" y="0"/>
            <a:chExt cx="976527" cy="812800"/>
          </a:xfrm>
        </p:grpSpPr>
        <p:sp>
          <p:nvSpPr>
            <p:cNvPr name="Freeform 13" id="13"/>
            <p:cNvSpPr/>
            <p:nvPr/>
          </p:nvSpPr>
          <p:spPr>
            <a:xfrm flipH="false" flipV="false" rot="0">
              <a:off x="0" y="0"/>
              <a:ext cx="976527" cy="812800"/>
            </a:xfrm>
            <a:custGeom>
              <a:avLst/>
              <a:gdLst/>
              <a:ahLst/>
              <a:cxnLst/>
              <a:rect r="r" b="b" t="t" l="l"/>
              <a:pathLst>
                <a:path h="812800" w="976527">
                  <a:moveTo>
                    <a:pt x="488263" y="0"/>
                  </a:moveTo>
                  <a:cubicBezTo>
                    <a:pt x="218603" y="0"/>
                    <a:pt x="0" y="181951"/>
                    <a:pt x="0" y="406400"/>
                  </a:cubicBezTo>
                  <a:cubicBezTo>
                    <a:pt x="0" y="630849"/>
                    <a:pt x="218603" y="812800"/>
                    <a:pt x="488263" y="812800"/>
                  </a:cubicBezTo>
                  <a:cubicBezTo>
                    <a:pt x="757924" y="812800"/>
                    <a:pt x="976527" y="630849"/>
                    <a:pt x="976527" y="406400"/>
                  </a:cubicBezTo>
                  <a:cubicBezTo>
                    <a:pt x="976527" y="181951"/>
                    <a:pt x="757924" y="0"/>
                    <a:pt x="488263" y="0"/>
                  </a:cubicBezTo>
                  <a:close/>
                </a:path>
              </a:pathLst>
            </a:custGeom>
            <a:solidFill>
              <a:srgbClr val="FEFEFE"/>
            </a:solidFill>
          </p:spPr>
        </p:sp>
        <p:sp>
          <p:nvSpPr>
            <p:cNvPr name="TextBox 14" id="14"/>
            <p:cNvSpPr txBox="true"/>
            <p:nvPr/>
          </p:nvSpPr>
          <p:spPr>
            <a:xfrm>
              <a:off x="91549" y="28575"/>
              <a:ext cx="793428" cy="70802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2364295" y="7056223"/>
            <a:ext cx="2033177" cy="1692290"/>
            <a:chOff x="0" y="0"/>
            <a:chExt cx="976527" cy="812800"/>
          </a:xfrm>
        </p:grpSpPr>
        <p:sp>
          <p:nvSpPr>
            <p:cNvPr name="Freeform 16" id="16"/>
            <p:cNvSpPr/>
            <p:nvPr/>
          </p:nvSpPr>
          <p:spPr>
            <a:xfrm flipH="false" flipV="false" rot="0">
              <a:off x="0" y="0"/>
              <a:ext cx="976527" cy="812800"/>
            </a:xfrm>
            <a:custGeom>
              <a:avLst/>
              <a:gdLst/>
              <a:ahLst/>
              <a:cxnLst/>
              <a:rect r="r" b="b" t="t" l="l"/>
              <a:pathLst>
                <a:path h="812800" w="976527">
                  <a:moveTo>
                    <a:pt x="488263" y="0"/>
                  </a:moveTo>
                  <a:cubicBezTo>
                    <a:pt x="218603" y="0"/>
                    <a:pt x="0" y="181951"/>
                    <a:pt x="0" y="406400"/>
                  </a:cubicBezTo>
                  <a:cubicBezTo>
                    <a:pt x="0" y="630849"/>
                    <a:pt x="218603" y="812800"/>
                    <a:pt x="488263" y="812800"/>
                  </a:cubicBezTo>
                  <a:cubicBezTo>
                    <a:pt x="757924" y="812800"/>
                    <a:pt x="976527" y="630849"/>
                    <a:pt x="976527" y="406400"/>
                  </a:cubicBezTo>
                  <a:cubicBezTo>
                    <a:pt x="976527" y="181951"/>
                    <a:pt x="757924" y="0"/>
                    <a:pt x="488263" y="0"/>
                  </a:cubicBezTo>
                  <a:close/>
                </a:path>
              </a:pathLst>
            </a:custGeom>
            <a:solidFill>
              <a:srgbClr val="FEFEFE"/>
            </a:solidFill>
          </p:spPr>
        </p:sp>
        <p:sp>
          <p:nvSpPr>
            <p:cNvPr name="TextBox 17" id="17"/>
            <p:cNvSpPr txBox="true"/>
            <p:nvPr/>
          </p:nvSpPr>
          <p:spPr>
            <a:xfrm>
              <a:off x="91549" y="28575"/>
              <a:ext cx="793428" cy="708025"/>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2489136" y="2612939"/>
            <a:ext cx="1783495" cy="1209828"/>
          </a:xfrm>
          <a:prstGeom prst="rect">
            <a:avLst/>
          </a:prstGeom>
        </p:spPr>
        <p:txBody>
          <a:bodyPr anchor="t" rtlCol="false" tIns="0" lIns="0" bIns="0" rIns="0">
            <a:spAutoFit/>
          </a:bodyPr>
          <a:lstStyle/>
          <a:p>
            <a:pPr algn="ctr">
              <a:lnSpc>
                <a:spcPts val="9966"/>
              </a:lnSpc>
            </a:pPr>
            <a:r>
              <a:rPr lang="en-US" b="true" sz="7118">
                <a:solidFill>
                  <a:srgbClr val="143F6F"/>
                </a:solidFill>
                <a:latin typeface="Roboto Bold"/>
                <a:ea typeface="Roboto Bold"/>
                <a:cs typeface="Roboto Bold"/>
                <a:sym typeface="Roboto Bold"/>
              </a:rPr>
              <a:t>1</a:t>
            </a:r>
          </a:p>
        </p:txBody>
      </p:sp>
      <p:sp>
        <p:nvSpPr>
          <p:cNvPr name="TextBox 19" id="19"/>
          <p:cNvSpPr txBox="true"/>
          <p:nvPr/>
        </p:nvSpPr>
        <p:spPr>
          <a:xfrm rot="0">
            <a:off x="2489136" y="4962618"/>
            <a:ext cx="1783495" cy="1209828"/>
          </a:xfrm>
          <a:prstGeom prst="rect">
            <a:avLst/>
          </a:prstGeom>
        </p:spPr>
        <p:txBody>
          <a:bodyPr anchor="t" rtlCol="false" tIns="0" lIns="0" bIns="0" rIns="0">
            <a:spAutoFit/>
          </a:bodyPr>
          <a:lstStyle/>
          <a:p>
            <a:pPr algn="ctr">
              <a:lnSpc>
                <a:spcPts val="9966"/>
              </a:lnSpc>
            </a:pPr>
            <a:r>
              <a:rPr lang="en-US" b="true" sz="7118">
                <a:solidFill>
                  <a:srgbClr val="143F6F"/>
                </a:solidFill>
                <a:latin typeface="Roboto Bold"/>
                <a:ea typeface="Roboto Bold"/>
                <a:cs typeface="Roboto Bold"/>
                <a:sym typeface="Roboto Bold"/>
              </a:rPr>
              <a:t>2</a:t>
            </a:r>
          </a:p>
        </p:txBody>
      </p:sp>
      <p:sp>
        <p:nvSpPr>
          <p:cNvPr name="TextBox 20" id="20"/>
          <p:cNvSpPr txBox="true"/>
          <p:nvPr/>
        </p:nvSpPr>
        <p:spPr>
          <a:xfrm rot="0">
            <a:off x="2489136" y="7319753"/>
            <a:ext cx="1783495" cy="1209828"/>
          </a:xfrm>
          <a:prstGeom prst="rect">
            <a:avLst/>
          </a:prstGeom>
        </p:spPr>
        <p:txBody>
          <a:bodyPr anchor="t" rtlCol="false" tIns="0" lIns="0" bIns="0" rIns="0">
            <a:spAutoFit/>
          </a:bodyPr>
          <a:lstStyle/>
          <a:p>
            <a:pPr algn="ctr">
              <a:lnSpc>
                <a:spcPts val="9966"/>
              </a:lnSpc>
            </a:pPr>
            <a:r>
              <a:rPr lang="en-US" b="true" sz="7118">
                <a:solidFill>
                  <a:srgbClr val="143F6F"/>
                </a:solidFill>
                <a:latin typeface="Roboto Bold"/>
                <a:ea typeface="Roboto Bold"/>
                <a:cs typeface="Roboto Bold"/>
                <a:sym typeface="Roboto Bold"/>
              </a:rPr>
              <a:t>3</a:t>
            </a:r>
          </a:p>
        </p:txBody>
      </p:sp>
      <p:sp>
        <p:nvSpPr>
          <p:cNvPr name="TextBox 21" id="21"/>
          <p:cNvSpPr txBox="true"/>
          <p:nvPr/>
        </p:nvSpPr>
        <p:spPr>
          <a:xfrm rot="0">
            <a:off x="5026941" y="2777064"/>
            <a:ext cx="11144211" cy="640471"/>
          </a:xfrm>
          <a:prstGeom prst="rect">
            <a:avLst/>
          </a:prstGeom>
        </p:spPr>
        <p:txBody>
          <a:bodyPr anchor="t" rtlCol="false" tIns="0" lIns="0" bIns="0" rIns="0">
            <a:spAutoFit/>
          </a:bodyPr>
          <a:lstStyle/>
          <a:p>
            <a:pPr algn="l">
              <a:lnSpc>
                <a:spcPts val="5123"/>
              </a:lnSpc>
              <a:spcBef>
                <a:spcPct val="0"/>
              </a:spcBef>
            </a:pPr>
            <a:r>
              <a:rPr lang="en-US" sz="3659">
                <a:solidFill>
                  <a:srgbClr val="FEFEFE"/>
                </a:solidFill>
                <a:latin typeface="Roboto"/>
                <a:ea typeface="Roboto"/>
                <a:cs typeface="Roboto"/>
                <a:sym typeface="Roboto"/>
              </a:rPr>
              <a:t>Tìm hiểu và tinh chỉnh mô hình PhoBERT.</a:t>
            </a:r>
          </a:p>
        </p:txBody>
      </p:sp>
      <p:sp>
        <p:nvSpPr>
          <p:cNvPr name="TextBox 22" id="22"/>
          <p:cNvSpPr txBox="true"/>
          <p:nvPr/>
        </p:nvSpPr>
        <p:spPr>
          <a:xfrm rot="0">
            <a:off x="5026941" y="5089901"/>
            <a:ext cx="11452604" cy="640461"/>
          </a:xfrm>
          <a:prstGeom prst="rect">
            <a:avLst/>
          </a:prstGeom>
        </p:spPr>
        <p:txBody>
          <a:bodyPr anchor="t" rtlCol="false" tIns="0" lIns="0" bIns="0" rIns="0">
            <a:spAutoFit/>
          </a:bodyPr>
          <a:lstStyle/>
          <a:p>
            <a:pPr algn="l">
              <a:lnSpc>
                <a:spcPts val="5123"/>
              </a:lnSpc>
              <a:spcBef>
                <a:spcPct val="0"/>
              </a:spcBef>
            </a:pPr>
            <a:r>
              <a:rPr lang="en-US" sz="3659">
                <a:solidFill>
                  <a:srgbClr val="FEFEFE"/>
                </a:solidFill>
                <a:latin typeface="Roboto"/>
                <a:ea typeface="Roboto"/>
                <a:cs typeface="Roboto"/>
                <a:sym typeface="Roboto"/>
              </a:rPr>
              <a:t>Áp dụng mô hình cho bài toán NER tiếng Việt.</a:t>
            </a:r>
          </a:p>
        </p:txBody>
      </p:sp>
      <p:sp>
        <p:nvSpPr>
          <p:cNvPr name="TextBox 23" id="23"/>
          <p:cNvSpPr txBox="true"/>
          <p:nvPr/>
        </p:nvSpPr>
        <p:spPr>
          <a:xfrm rot="0">
            <a:off x="5026941" y="7539275"/>
            <a:ext cx="11144211" cy="640461"/>
          </a:xfrm>
          <a:prstGeom prst="rect">
            <a:avLst/>
          </a:prstGeom>
        </p:spPr>
        <p:txBody>
          <a:bodyPr anchor="t" rtlCol="false" tIns="0" lIns="0" bIns="0" rIns="0">
            <a:spAutoFit/>
          </a:bodyPr>
          <a:lstStyle/>
          <a:p>
            <a:pPr algn="l">
              <a:lnSpc>
                <a:spcPts val="5123"/>
              </a:lnSpc>
            </a:pPr>
            <a:r>
              <a:rPr lang="en-US" sz="3659">
                <a:solidFill>
                  <a:srgbClr val="FEFEFE"/>
                </a:solidFill>
                <a:latin typeface="Roboto"/>
                <a:ea typeface="Roboto"/>
                <a:cs typeface="Roboto"/>
                <a:sym typeface="Roboto"/>
              </a:rPr>
              <a:t> Đánh giá hiệu suất và so sánh với RoBERTa.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1623459" y="-260867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0" y="3066201"/>
            <a:ext cx="19447632" cy="5129313"/>
          </a:xfrm>
          <a:custGeom>
            <a:avLst/>
            <a:gdLst/>
            <a:ahLst/>
            <a:cxnLst/>
            <a:rect r="r" b="b" t="t" l="l"/>
            <a:pathLst>
              <a:path h="5129313" w="19447632">
                <a:moveTo>
                  <a:pt x="0" y="0"/>
                </a:moveTo>
                <a:lnTo>
                  <a:pt x="19447632" y="0"/>
                </a:lnTo>
                <a:lnTo>
                  <a:pt x="19447632" y="5129312"/>
                </a:lnTo>
                <a:lnTo>
                  <a:pt x="0" y="5129312"/>
                </a:lnTo>
                <a:lnTo>
                  <a:pt x="0" y="0"/>
                </a:lnTo>
                <a:close/>
              </a:path>
            </a:pathLst>
          </a:custGeom>
          <a:blipFill>
            <a:blip r:embed="rId6"/>
            <a:stretch>
              <a:fillRect l="0" t="0" r="0" b="0"/>
            </a:stretch>
          </a:blipFill>
        </p:spPr>
      </p:sp>
      <p:sp>
        <p:nvSpPr>
          <p:cNvPr name="TextBox 5" id="5"/>
          <p:cNvSpPr txBox="true"/>
          <p:nvPr/>
        </p:nvSpPr>
        <p:spPr>
          <a:xfrm rot="0">
            <a:off x="1315065" y="522624"/>
            <a:ext cx="10314612" cy="897853"/>
          </a:xfrm>
          <a:prstGeom prst="rect">
            <a:avLst/>
          </a:prstGeom>
        </p:spPr>
        <p:txBody>
          <a:bodyPr anchor="t" rtlCol="false" tIns="0" lIns="0" bIns="0" rIns="0">
            <a:spAutoFit/>
          </a:bodyPr>
          <a:lstStyle/>
          <a:p>
            <a:pPr algn="l">
              <a:lnSpc>
                <a:spcPts val="7212"/>
              </a:lnSpc>
            </a:pPr>
            <a:r>
              <a:rPr lang="en-US" b="true" sz="5151">
                <a:solidFill>
                  <a:srgbClr val="2B5786"/>
                </a:solidFill>
                <a:latin typeface="Roboto Bold"/>
                <a:ea typeface="Roboto Bold"/>
                <a:cs typeface="Roboto Bold"/>
                <a:sym typeface="Roboto Bold"/>
              </a:rPr>
              <a:t>PHƯƠNG PHÁP THỰC NGHIỆM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C2F1"/>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3649164" y="3319923"/>
            <a:ext cx="12504082" cy="3087467"/>
          </a:xfrm>
          <a:prstGeom prst="rect">
            <a:avLst/>
          </a:prstGeom>
        </p:spPr>
        <p:txBody>
          <a:bodyPr anchor="t" rtlCol="false" tIns="0" lIns="0" bIns="0" rIns="0">
            <a:spAutoFit/>
          </a:bodyPr>
          <a:lstStyle/>
          <a:p>
            <a:pPr algn="ctr">
              <a:lnSpc>
                <a:spcPts val="12119"/>
              </a:lnSpc>
            </a:pPr>
            <a:r>
              <a:rPr lang="en-US" sz="10358" b="true">
                <a:solidFill>
                  <a:srgbClr val="FEFEFE"/>
                </a:solidFill>
                <a:latin typeface="Roboto Bold"/>
                <a:ea typeface="Roboto Bold"/>
                <a:cs typeface="Roboto Bold"/>
                <a:sym typeface="Roboto Bold"/>
              </a:rPr>
              <a:t>Xử lý ngôn ngữ </a:t>
            </a:r>
          </a:p>
          <a:p>
            <a:pPr algn="ctr">
              <a:lnSpc>
                <a:spcPts val="12119"/>
              </a:lnSpc>
            </a:pPr>
            <a:r>
              <a:rPr lang="en-US" sz="10358" b="true">
                <a:solidFill>
                  <a:srgbClr val="FEFEFE"/>
                </a:solidFill>
                <a:latin typeface="Roboto Bold"/>
                <a:ea typeface="Roboto Bold"/>
                <a:cs typeface="Roboto Bold"/>
                <a:sym typeface="Roboto Bold"/>
              </a:rPr>
              <a:t>tự nhiên (NLP)</a:t>
            </a:r>
          </a:p>
        </p:txBody>
      </p:sp>
      <p:sp>
        <p:nvSpPr>
          <p:cNvPr name="Freeform 11" id="11"/>
          <p:cNvSpPr/>
          <p:nvPr/>
        </p:nvSpPr>
        <p:spPr>
          <a:xfrm flipH="false" flipV="false" rot="0">
            <a:off x="1738870" y="4205349"/>
            <a:ext cx="1483489" cy="458533"/>
          </a:xfrm>
          <a:custGeom>
            <a:avLst/>
            <a:gdLst/>
            <a:ahLst/>
            <a:cxnLst/>
            <a:rect r="r" b="b" t="t" l="l"/>
            <a:pathLst>
              <a:path h="458533" w="1483489">
                <a:moveTo>
                  <a:pt x="0" y="0"/>
                </a:moveTo>
                <a:lnTo>
                  <a:pt x="1483490" y="0"/>
                </a:lnTo>
                <a:lnTo>
                  <a:pt x="1483490" y="458534"/>
                </a:lnTo>
                <a:lnTo>
                  <a:pt x="0" y="4585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028700" y="-252231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7843805" y="893148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C2F1"/>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4386315" y="2362316"/>
            <a:ext cx="8883242" cy="7106594"/>
          </a:xfrm>
          <a:custGeom>
            <a:avLst/>
            <a:gdLst/>
            <a:ahLst/>
            <a:cxnLst/>
            <a:rect r="r" b="b" t="t" l="l"/>
            <a:pathLst>
              <a:path h="7106594" w="8883242">
                <a:moveTo>
                  <a:pt x="0" y="0"/>
                </a:moveTo>
                <a:lnTo>
                  <a:pt x="8883242" y="0"/>
                </a:lnTo>
                <a:lnTo>
                  <a:pt x="8883242" y="7106594"/>
                </a:lnTo>
                <a:lnTo>
                  <a:pt x="0" y="7106594"/>
                </a:lnTo>
                <a:lnTo>
                  <a:pt x="0" y="0"/>
                </a:lnTo>
                <a:close/>
              </a:path>
            </a:pathLst>
          </a:custGeom>
          <a:blipFill>
            <a:blip r:embed="rId5"/>
            <a:stretch>
              <a:fillRect l="0" t="-25000" r="0" b="0"/>
            </a:stretch>
          </a:blipFill>
        </p:spPr>
      </p:sp>
      <p:sp>
        <p:nvSpPr>
          <p:cNvPr name="TextBox 10" id="10"/>
          <p:cNvSpPr txBox="true"/>
          <p:nvPr/>
        </p:nvSpPr>
        <p:spPr>
          <a:xfrm rot="0">
            <a:off x="771625" y="1092557"/>
            <a:ext cx="14168470" cy="836554"/>
          </a:xfrm>
          <a:prstGeom prst="rect">
            <a:avLst/>
          </a:prstGeom>
        </p:spPr>
        <p:txBody>
          <a:bodyPr anchor="t" rtlCol="false" tIns="0" lIns="0" bIns="0" rIns="0">
            <a:spAutoFit/>
          </a:bodyPr>
          <a:lstStyle/>
          <a:p>
            <a:pPr algn="l">
              <a:lnSpc>
                <a:spcPts val="5859"/>
              </a:lnSpc>
            </a:pPr>
            <a:r>
              <a:rPr lang="en-US" sz="7059" b="true">
                <a:solidFill>
                  <a:srgbClr val="FEFEFE"/>
                </a:solidFill>
                <a:latin typeface="Roboto Bold"/>
                <a:ea typeface="Roboto Bold"/>
                <a:cs typeface="Roboto Bold"/>
                <a:sym typeface="Roboto Bold"/>
              </a:rPr>
              <a:t>GIỚI THIỆU VỀ NLP</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C2F1"/>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3649164" y="3319923"/>
            <a:ext cx="12504082" cy="3666204"/>
          </a:xfrm>
          <a:prstGeom prst="rect">
            <a:avLst/>
          </a:prstGeom>
        </p:spPr>
        <p:txBody>
          <a:bodyPr anchor="t" rtlCol="false" tIns="0" lIns="0" bIns="0" rIns="0">
            <a:spAutoFit/>
          </a:bodyPr>
          <a:lstStyle/>
          <a:p>
            <a:pPr algn="ctr">
              <a:lnSpc>
                <a:spcPts val="14342"/>
              </a:lnSpc>
            </a:pPr>
            <a:r>
              <a:rPr lang="en-US" sz="12258" b="true">
                <a:solidFill>
                  <a:srgbClr val="FEFEFE"/>
                </a:solidFill>
                <a:latin typeface="Roboto Bold"/>
                <a:ea typeface="Roboto Bold"/>
                <a:cs typeface="Roboto Bold"/>
                <a:sym typeface="Roboto Bold"/>
              </a:rPr>
              <a:t>Tổng quan về bài toán NER</a:t>
            </a:r>
          </a:p>
        </p:txBody>
      </p:sp>
      <p:sp>
        <p:nvSpPr>
          <p:cNvPr name="Freeform 11" id="11"/>
          <p:cNvSpPr/>
          <p:nvPr/>
        </p:nvSpPr>
        <p:spPr>
          <a:xfrm flipH="false" flipV="false" rot="0">
            <a:off x="1738870" y="4205349"/>
            <a:ext cx="1483489" cy="458533"/>
          </a:xfrm>
          <a:custGeom>
            <a:avLst/>
            <a:gdLst/>
            <a:ahLst/>
            <a:cxnLst/>
            <a:rect r="r" b="b" t="t" l="l"/>
            <a:pathLst>
              <a:path h="458533" w="1483489">
                <a:moveTo>
                  <a:pt x="0" y="0"/>
                </a:moveTo>
                <a:lnTo>
                  <a:pt x="1483490" y="0"/>
                </a:lnTo>
                <a:lnTo>
                  <a:pt x="1483490" y="458534"/>
                </a:lnTo>
                <a:lnTo>
                  <a:pt x="0" y="4585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028700" y="-252231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7843805" y="893148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C2F1"/>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4419766" y="3553136"/>
            <a:ext cx="9642157" cy="6424087"/>
          </a:xfrm>
          <a:custGeom>
            <a:avLst/>
            <a:gdLst/>
            <a:ahLst/>
            <a:cxnLst/>
            <a:rect r="r" b="b" t="t" l="l"/>
            <a:pathLst>
              <a:path h="6424087" w="9642157">
                <a:moveTo>
                  <a:pt x="0" y="0"/>
                </a:moveTo>
                <a:lnTo>
                  <a:pt x="9642156" y="0"/>
                </a:lnTo>
                <a:lnTo>
                  <a:pt x="9642156" y="6424087"/>
                </a:lnTo>
                <a:lnTo>
                  <a:pt x="0" y="6424087"/>
                </a:lnTo>
                <a:lnTo>
                  <a:pt x="0" y="0"/>
                </a:lnTo>
                <a:close/>
              </a:path>
            </a:pathLst>
          </a:custGeom>
          <a:blipFill>
            <a:blip r:embed="rId5"/>
            <a:stretch>
              <a:fillRect l="0" t="0" r="0" b="0"/>
            </a:stretch>
          </a:blipFill>
        </p:spPr>
      </p:sp>
      <p:sp>
        <p:nvSpPr>
          <p:cNvPr name="TextBox 10" id="10"/>
          <p:cNvSpPr txBox="true"/>
          <p:nvPr/>
        </p:nvSpPr>
        <p:spPr>
          <a:xfrm rot="0">
            <a:off x="771625" y="1092557"/>
            <a:ext cx="14168470" cy="836554"/>
          </a:xfrm>
          <a:prstGeom prst="rect">
            <a:avLst/>
          </a:prstGeom>
        </p:spPr>
        <p:txBody>
          <a:bodyPr anchor="t" rtlCol="false" tIns="0" lIns="0" bIns="0" rIns="0">
            <a:spAutoFit/>
          </a:bodyPr>
          <a:lstStyle/>
          <a:p>
            <a:pPr algn="l">
              <a:lnSpc>
                <a:spcPts val="5859"/>
              </a:lnSpc>
            </a:pPr>
            <a:r>
              <a:rPr lang="en-US" sz="7059" b="true">
                <a:solidFill>
                  <a:srgbClr val="FEFEFE"/>
                </a:solidFill>
                <a:latin typeface="Roboto Bold"/>
                <a:ea typeface="Roboto Bold"/>
                <a:cs typeface="Roboto Bold"/>
                <a:sym typeface="Roboto Bold"/>
              </a:rPr>
              <a:t>GIỚI THIỆU VỀ NER</a:t>
            </a:r>
          </a:p>
        </p:txBody>
      </p:sp>
      <p:sp>
        <p:nvSpPr>
          <p:cNvPr name="TextBox 11" id="11"/>
          <p:cNvSpPr txBox="true"/>
          <p:nvPr/>
        </p:nvSpPr>
        <p:spPr>
          <a:xfrm rot="0">
            <a:off x="1028700" y="2276786"/>
            <a:ext cx="14344971" cy="1038226"/>
          </a:xfrm>
          <a:prstGeom prst="rect">
            <a:avLst/>
          </a:prstGeom>
        </p:spPr>
        <p:txBody>
          <a:bodyPr anchor="t" rtlCol="false" tIns="0" lIns="0" bIns="0" rIns="0">
            <a:spAutoFit/>
          </a:bodyPr>
          <a:lstStyle/>
          <a:p>
            <a:pPr algn="l">
              <a:lnSpc>
                <a:spcPts val="4199"/>
              </a:lnSpc>
              <a:spcBef>
                <a:spcPct val="0"/>
              </a:spcBef>
            </a:pPr>
            <a:r>
              <a:rPr lang="en-US" sz="2999">
                <a:solidFill>
                  <a:srgbClr val="FEFEFE"/>
                </a:solidFill>
                <a:latin typeface="Roboto"/>
                <a:ea typeface="Roboto"/>
                <a:cs typeface="Roboto"/>
                <a:sym typeface="Roboto"/>
              </a:rPr>
              <a:t>T</a:t>
            </a:r>
            <a:r>
              <a:rPr lang="en-US" sz="2999">
                <a:solidFill>
                  <a:srgbClr val="FEFEFE"/>
                </a:solidFill>
                <a:latin typeface="Roboto"/>
                <a:ea typeface="Roboto"/>
                <a:cs typeface="Roboto"/>
                <a:sym typeface="Roboto"/>
              </a:rPr>
              <a:t>ìm và phân loại những thực thể có trong văn bản</a:t>
            </a:r>
          </a:p>
          <a:p>
            <a:pPr algn="l">
              <a:lnSpc>
                <a:spcPts val="4199"/>
              </a:lnSpc>
              <a:spcBef>
                <a:spcPct val="0"/>
              </a:spcBef>
            </a:pPr>
            <a:r>
              <a:rPr lang="en-US" sz="2999">
                <a:solidFill>
                  <a:srgbClr val="FEFEFE"/>
                </a:solidFill>
                <a:latin typeface="Roboto"/>
                <a:ea typeface="Roboto"/>
                <a:cs typeface="Roboto"/>
                <a:sym typeface="Roboto"/>
              </a:rPr>
              <a:t>Biến các thông tin phi cấu trúc thành những thông tin có cấu trúc.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7830517" y="612123"/>
            <a:ext cx="9107909" cy="9107909"/>
          </a:xfrm>
          <a:custGeom>
            <a:avLst/>
            <a:gdLst/>
            <a:ahLst/>
            <a:cxnLst/>
            <a:rect r="r" b="b" t="t" l="l"/>
            <a:pathLst>
              <a:path h="9107909" w="9107909">
                <a:moveTo>
                  <a:pt x="0" y="0"/>
                </a:moveTo>
                <a:lnTo>
                  <a:pt x="9107909" y="0"/>
                </a:lnTo>
                <a:lnTo>
                  <a:pt x="9107909" y="9107909"/>
                </a:lnTo>
                <a:lnTo>
                  <a:pt x="0" y="9107909"/>
                </a:lnTo>
                <a:lnTo>
                  <a:pt x="0" y="0"/>
                </a:lnTo>
                <a:close/>
              </a:path>
            </a:pathLst>
          </a:custGeom>
          <a:blipFill>
            <a:blip r:embed="rId5"/>
            <a:stretch>
              <a:fillRect l="-628" t="0" r="0" b="0"/>
            </a:stretch>
          </a:blipFill>
        </p:spPr>
      </p:sp>
      <p:sp>
        <p:nvSpPr>
          <p:cNvPr name="TextBox 7" id="7"/>
          <p:cNvSpPr txBox="true"/>
          <p:nvPr/>
        </p:nvSpPr>
        <p:spPr>
          <a:xfrm rot="0">
            <a:off x="432196" y="4287876"/>
            <a:ext cx="7166064" cy="789204"/>
          </a:xfrm>
          <a:prstGeom prst="rect">
            <a:avLst/>
          </a:prstGeom>
        </p:spPr>
        <p:txBody>
          <a:bodyPr anchor="t" rtlCol="false" tIns="0" lIns="0" bIns="0" rIns="0">
            <a:spAutoFit/>
          </a:bodyPr>
          <a:lstStyle/>
          <a:p>
            <a:pPr algn="l">
              <a:lnSpc>
                <a:spcPts val="5527"/>
              </a:lnSpc>
            </a:pPr>
            <a:r>
              <a:rPr lang="en-US" sz="6660" b="true">
                <a:solidFill>
                  <a:srgbClr val="FEFEFE"/>
                </a:solidFill>
                <a:latin typeface="Roboto Bold"/>
                <a:ea typeface="Roboto Bold"/>
                <a:cs typeface="Roboto Bold"/>
                <a:sym typeface="Roboto Bold"/>
              </a:rPr>
              <a:t>Phân loại thực thể</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C2F1"/>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7744785" y="612123"/>
            <a:ext cx="7186302" cy="8982878"/>
          </a:xfrm>
          <a:custGeom>
            <a:avLst/>
            <a:gdLst/>
            <a:ahLst/>
            <a:cxnLst/>
            <a:rect r="r" b="b" t="t" l="l"/>
            <a:pathLst>
              <a:path h="8982878" w="7186302">
                <a:moveTo>
                  <a:pt x="0" y="0"/>
                </a:moveTo>
                <a:lnTo>
                  <a:pt x="7186302" y="0"/>
                </a:lnTo>
                <a:lnTo>
                  <a:pt x="7186302" y="8982878"/>
                </a:lnTo>
                <a:lnTo>
                  <a:pt x="0" y="8982878"/>
                </a:lnTo>
                <a:lnTo>
                  <a:pt x="0" y="0"/>
                </a:lnTo>
                <a:close/>
              </a:path>
            </a:pathLst>
          </a:custGeom>
          <a:blipFill>
            <a:blip r:embed="rId5"/>
            <a:stretch>
              <a:fillRect l="0" t="-15737" r="0" b="-4337"/>
            </a:stretch>
          </a:blipFill>
        </p:spPr>
      </p:sp>
      <p:sp>
        <p:nvSpPr>
          <p:cNvPr name="TextBox 7" id="7"/>
          <p:cNvSpPr txBox="true"/>
          <p:nvPr/>
        </p:nvSpPr>
        <p:spPr>
          <a:xfrm rot="0">
            <a:off x="1028700" y="3978301"/>
            <a:ext cx="5863878" cy="1812798"/>
          </a:xfrm>
          <a:prstGeom prst="rect">
            <a:avLst/>
          </a:prstGeom>
        </p:spPr>
        <p:txBody>
          <a:bodyPr anchor="t" rtlCol="false" tIns="0" lIns="0" bIns="0" rIns="0">
            <a:spAutoFit/>
          </a:bodyPr>
          <a:lstStyle/>
          <a:p>
            <a:pPr algn="l">
              <a:lnSpc>
                <a:spcPts val="6993"/>
              </a:lnSpc>
            </a:pPr>
            <a:r>
              <a:rPr lang="en-US" sz="6660" b="true">
                <a:solidFill>
                  <a:srgbClr val="FEFEFE"/>
                </a:solidFill>
                <a:latin typeface="Roboto Bold"/>
                <a:ea typeface="Roboto Bold"/>
                <a:cs typeface="Roboto Bold"/>
                <a:sym typeface="Roboto Bold"/>
              </a:rPr>
              <a:t>Ứng dụng NER </a:t>
            </a:r>
          </a:p>
          <a:p>
            <a:pPr algn="l">
              <a:lnSpc>
                <a:spcPts val="6993"/>
              </a:lnSpc>
            </a:pPr>
            <a:r>
              <a:rPr lang="en-US" sz="6660" b="true">
                <a:solidFill>
                  <a:srgbClr val="FEFEFE"/>
                </a:solidFill>
                <a:latin typeface="Roboto Bold"/>
                <a:ea typeface="Roboto Bold"/>
                <a:cs typeface="Roboto Bold"/>
                <a:sym typeface="Roboto Bold"/>
              </a:rPr>
              <a:t>trong thực tế</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C2F1"/>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3329756" y="3319923"/>
            <a:ext cx="13142897" cy="3666204"/>
          </a:xfrm>
          <a:prstGeom prst="rect">
            <a:avLst/>
          </a:prstGeom>
        </p:spPr>
        <p:txBody>
          <a:bodyPr anchor="t" rtlCol="false" tIns="0" lIns="0" bIns="0" rIns="0">
            <a:spAutoFit/>
          </a:bodyPr>
          <a:lstStyle/>
          <a:p>
            <a:pPr algn="ctr">
              <a:lnSpc>
                <a:spcPts val="14342"/>
              </a:lnSpc>
            </a:pPr>
            <a:r>
              <a:rPr lang="en-US" sz="12258" b="true">
                <a:solidFill>
                  <a:srgbClr val="FEFEFE"/>
                </a:solidFill>
                <a:latin typeface="Roboto Bold"/>
                <a:ea typeface="Roboto Bold"/>
                <a:cs typeface="Roboto Bold"/>
                <a:sym typeface="Roboto Bold"/>
              </a:rPr>
              <a:t>Các mô hình ngôn ngữ lớn (LLMs)</a:t>
            </a:r>
          </a:p>
        </p:txBody>
      </p:sp>
      <p:sp>
        <p:nvSpPr>
          <p:cNvPr name="Freeform 11" id="11"/>
          <p:cNvSpPr/>
          <p:nvPr/>
        </p:nvSpPr>
        <p:spPr>
          <a:xfrm flipH="false" flipV="false" rot="0">
            <a:off x="1738870" y="4205349"/>
            <a:ext cx="1483489" cy="458533"/>
          </a:xfrm>
          <a:custGeom>
            <a:avLst/>
            <a:gdLst/>
            <a:ahLst/>
            <a:cxnLst/>
            <a:rect r="r" b="b" t="t" l="l"/>
            <a:pathLst>
              <a:path h="458533" w="1483489">
                <a:moveTo>
                  <a:pt x="0" y="0"/>
                </a:moveTo>
                <a:lnTo>
                  <a:pt x="1483490" y="0"/>
                </a:lnTo>
                <a:lnTo>
                  <a:pt x="1483490" y="458534"/>
                </a:lnTo>
                <a:lnTo>
                  <a:pt x="0" y="4585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028700" y="-252231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7843805" y="893148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C2F1"/>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09168" y="3911912"/>
            <a:ext cx="11849807" cy="5653040"/>
          </a:xfrm>
          <a:custGeom>
            <a:avLst/>
            <a:gdLst/>
            <a:ahLst/>
            <a:cxnLst/>
            <a:rect r="r" b="b" t="t" l="l"/>
            <a:pathLst>
              <a:path h="5653040" w="11849807">
                <a:moveTo>
                  <a:pt x="0" y="0"/>
                </a:moveTo>
                <a:lnTo>
                  <a:pt x="11849806" y="0"/>
                </a:lnTo>
                <a:lnTo>
                  <a:pt x="11849806" y="5653040"/>
                </a:lnTo>
                <a:lnTo>
                  <a:pt x="0" y="5653040"/>
                </a:lnTo>
                <a:lnTo>
                  <a:pt x="0" y="0"/>
                </a:lnTo>
                <a:close/>
              </a:path>
            </a:pathLst>
          </a:custGeom>
          <a:blipFill>
            <a:blip r:embed="rId5"/>
            <a:stretch>
              <a:fillRect l="-6581" t="0" r="-6949" b="-44275"/>
            </a:stretch>
          </a:blipFill>
        </p:spPr>
      </p:sp>
      <p:sp>
        <p:nvSpPr>
          <p:cNvPr name="TextBox 10" id="10"/>
          <p:cNvSpPr txBox="true"/>
          <p:nvPr/>
        </p:nvSpPr>
        <p:spPr>
          <a:xfrm rot="0">
            <a:off x="771625" y="1092557"/>
            <a:ext cx="14168470" cy="836554"/>
          </a:xfrm>
          <a:prstGeom prst="rect">
            <a:avLst/>
          </a:prstGeom>
        </p:spPr>
        <p:txBody>
          <a:bodyPr anchor="t" rtlCol="false" tIns="0" lIns="0" bIns="0" rIns="0">
            <a:spAutoFit/>
          </a:bodyPr>
          <a:lstStyle/>
          <a:p>
            <a:pPr algn="l">
              <a:lnSpc>
                <a:spcPts val="5859"/>
              </a:lnSpc>
            </a:pPr>
            <a:r>
              <a:rPr lang="en-US" sz="7059" b="true">
                <a:solidFill>
                  <a:srgbClr val="FEFEFE"/>
                </a:solidFill>
                <a:latin typeface="Roboto Bold"/>
                <a:ea typeface="Roboto Bold"/>
                <a:cs typeface="Roboto Bold"/>
                <a:sym typeface="Roboto Bold"/>
              </a:rPr>
              <a:t>GIỚI THIỆU VỀ LLM</a:t>
            </a:r>
          </a:p>
        </p:txBody>
      </p:sp>
      <p:sp>
        <p:nvSpPr>
          <p:cNvPr name="TextBox 11" id="11"/>
          <p:cNvSpPr txBox="true"/>
          <p:nvPr/>
        </p:nvSpPr>
        <p:spPr>
          <a:xfrm rot="0">
            <a:off x="1028700" y="2276786"/>
            <a:ext cx="14933539" cy="1216026"/>
          </a:xfrm>
          <a:prstGeom prst="rect">
            <a:avLst/>
          </a:prstGeom>
        </p:spPr>
        <p:txBody>
          <a:bodyPr anchor="t" rtlCol="false" tIns="0" lIns="0" bIns="0" rIns="0">
            <a:spAutoFit/>
          </a:bodyPr>
          <a:lstStyle/>
          <a:p>
            <a:pPr algn="l">
              <a:lnSpc>
                <a:spcPts val="4899"/>
              </a:lnSpc>
              <a:spcBef>
                <a:spcPct val="0"/>
              </a:spcBef>
            </a:pPr>
            <a:r>
              <a:rPr lang="en-US" sz="3499">
                <a:solidFill>
                  <a:srgbClr val="FEFEFE"/>
                </a:solidFill>
                <a:latin typeface="Roboto"/>
                <a:ea typeface="Roboto"/>
                <a:cs typeface="Roboto"/>
                <a:sym typeface="Roboto"/>
              </a:rPr>
              <a:t>Được</a:t>
            </a:r>
            <a:r>
              <a:rPr lang="en-US" sz="3499">
                <a:solidFill>
                  <a:srgbClr val="FEFEFE"/>
                </a:solidFill>
                <a:latin typeface="Roboto"/>
                <a:ea typeface="Roboto"/>
                <a:cs typeface="Roboto"/>
                <a:sym typeface="Roboto"/>
              </a:rPr>
              <a:t> huấn luyện trên lượng dữ liệu ngôn ngữ khổng lồ nhằm học biểu diễn ngôn ngữ và hiểu ngữ cảnh ở mức độ sâu sắc.</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196460" y="3460885"/>
            <a:ext cx="8476214" cy="2819975"/>
          </a:xfrm>
          <a:prstGeom prst="rect">
            <a:avLst/>
          </a:prstGeom>
        </p:spPr>
        <p:txBody>
          <a:bodyPr anchor="t" rtlCol="false" tIns="0" lIns="0" bIns="0" rIns="0">
            <a:spAutoFit/>
          </a:bodyPr>
          <a:lstStyle/>
          <a:p>
            <a:pPr algn="l">
              <a:lnSpc>
                <a:spcPts val="7341"/>
              </a:lnSpc>
            </a:pPr>
            <a:r>
              <a:rPr lang="en-US" sz="7059" b="true">
                <a:solidFill>
                  <a:srgbClr val="FEFEFE"/>
                </a:solidFill>
                <a:latin typeface="Roboto Bold"/>
                <a:ea typeface="Roboto Bold"/>
                <a:cs typeface="Roboto Bold"/>
                <a:sym typeface="Roboto Bold"/>
              </a:rPr>
              <a:t>CÁC MÔ HÌNH LLM TIÊU BIỂU TRONG NER </a:t>
            </a:r>
          </a:p>
        </p:txBody>
      </p:sp>
      <p:sp>
        <p:nvSpPr>
          <p:cNvPr name="TextBox 4" id="4"/>
          <p:cNvSpPr txBox="true"/>
          <p:nvPr/>
        </p:nvSpPr>
        <p:spPr>
          <a:xfrm rot="0">
            <a:off x="10743090" y="3298960"/>
            <a:ext cx="4029632" cy="3916046"/>
          </a:xfrm>
          <a:prstGeom prst="rect">
            <a:avLst/>
          </a:prstGeom>
        </p:spPr>
        <p:txBody>
          <a:bodyPr anchor="t" rtlCol="false" tIns="0" lIns="0" bIns="0" rIns="0">
            <a:spAutoFit/>
          </a:bodyPr>
          <a:lstStyle/>
          <a:p>
            <a:pPr algn="l">
              <a:lnSpc>
                <a:spcPts val="5179"/>
              </a:lnSpc>
              <a:spcBef>
                <a:spcPct val="0"/>
              </a:spcBef>
            </a:pPr>
            <a:r>
              <a:rPr lang="en-US" sz="3699">
                <a:solidFill>
                  <a:srgbClr val="FEFEFE"/>
                </a:solidFill>
                <a:latin typeface="Roboto"/>
                <a:ea typeface="Roboto"/>
                <a:cs typeface="Roboto"/>
                <a:sym typeface="Roboto"/>
              </a:rPr>
              <a:t>Các</a:t>
            </a:r>
            <a:r>
              <a:rPr lang="en-US" sz="3699">
                <a:solidFill>
                  <a:srgbClr val="FEFEFE"/>
                </a:solidFill>
                <a:latin typeface="Roboto"/>
                <a:ea typeface="Roboto"/>
                <a:cs typeface="Roboto"/>
                <a:sym typeface="Roboto"/>
              </a:rPr>
              <a:t> mô hình:</a:t>
            </a:r>
          </a:p>
          <a:p>
            <a:pPr algn="l" marL="798820" indent="-399410" lvl="1">
              <a:lnSpc>
                <a:spcPts val="5179"/>
              </a:lnSpc>
              <a:spcBef>
                <a:spcPct val="0"/>
              </a:spcBef>
              <a:buFont typeface="Arial"/>
              <a:buChar char="•"/>
            </a:pPr>
            <a:r>
              <a:rPr lang="en-US" sz="3699">
                <a:solidFill>
                  <a:srgbClr val="FEFEFE"/>
                </a:solidFill>
                <a:latin typeface="Roboto"/>
                <a:ea typeface="Roboto"/>
                <a:cs typeface="Roboto"/>
                <a:sym typeface="Roboto"/>
              </a:rPr>
              <a:t>BERT</a:t>
            </a:r>
          </a:p>
          <a:p>
            <a:pPr algn="l" marL="798820" indent="-399410" lvl="1">
              <a:lnSpc>
                <a:spcPts val="5179"/>
              </a:lnSpc>
              <a:spcBef>
                <a:spcPct val="0"/>
              </a:spcBef>
              <a:buFont typeface="Arial"/>
              <a:buChar char="•"/>
            </a:pPr>
            <a:r>
              <a:rPr lang="en-US" sz="3699">
                <a:solidFill>
                  <a:srgbClr val="FEFEFE"/>
                </a:solidFill>
                <a:latin typeface="Roboto"/>
                <a:ea typeface="Roboto"/>
                <a:cs typeface="Roboto"/>
                <a:sym typeface="Roboto"/>
              </a:rPr>
              <a:t>RoBERTa</a:t>
            </a:r>
          </a:p>
          <a:p>
            <a:pPr algn="l" marL="798820" indent="-399410" lvl="1">
              <a:lnSpc>
                <a:spcPts val="5179"/>
              </a:lnSpc>
              <a:spcBef>
                <a:spcPct val="0"/>
              </a:spcBef>
              <a:buFont typeface="Arial"/>
              <a:buChar char="•"/>
            </a:pPr>
            <a:r>
              <a:rPr lang="en-US" sz="3699">
                <a:solidFill>
                  <a:srgbClr val="FEFEFE"/>
                </a:solidFill>
                <a:latin typeface="Roboto"/>
                <a:ea typeface="Roboto"/>
                <a:cs typeface="Roboto"/>
                <a:sym typeface="Roboto"/>
              </a:rPr>
              <a:t>PhoBERT</a:t>
            </a:r>
          </a:p>
          <a:p>
            <a:pPr algn="l">
              <a:lnSpc>
                <a:spcPts val="5179"/>
              </a:lnSpc>
              <a:spcBef>
                <a:spcPct val="0"/>
              </a:spcBef>
            </a:pPr>
          </a:p>
          <a:p>
            <a:pPr algn="l">
              <a:lnSpc>
                <a:spcPts val="5179"/>
              </a:lnSpc>
              <a:spcBef>
                <a:spcPct val="0"/>
              </a:spcBef>
            </a:pPr>
          </a:p>
        </p:txBody>
      </p:sp>
      <p:sp>
        <p:nvSpPr>
          <p:cNvPr name="Freeform 5" id="5"/>
          <p:cNvSpPr/>
          <p:nvPr/>
        </p:nvSpPr>
        <p:spPr>
          <a:xfrm flipH="false" flipV="false" rot="0">
            <a:off x="1028700" y="-252231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7843805" y="893148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028700" y="1123950"/>
            <a:ext cx="16230600" cy="972125"/>
          </a:xfrm>
          <a:prstGeom prst="rect">
            <a:avLst/>
          </a:prstGeom>
        </p:spPr>
        <p:txBody>
          <a:bodyPr anchor="t" rtlCol="false" tIns="0" lIns="0" bIns="0" rIns="0">
            <a:spAutoFit/>
          </a:bodyPr>
          <a:lstStyle/>
          <a:p>
            <a:pPr algn="l">
              <a:lnSpc>
                <a:spcPts val="7341"/>
              </a:lnSpc>
            </a:pPr>
            <a:r>
              <a:rPr lang="en-US" sz="7059" b="true">
                <a:solidFill>
                  <a:srgbClr val="FEFEFE"/>
                </a:solidFill>
                <a:latin typeface="Roboto Bold"/>
                <a:ea typeface="Roboto Bold"/>
                <a:cs typeface="Roboto Bold"/>
                <a:sym typeface="Roboto Bold"/>
              </a:rPr>
              <a:t>PHOBERT - MÔ HÌNH CHO TIẾNG VIỆT</a:t>
            </a:r>
          </a:p>
        </p:txBody>
      </p:sp>
      <p:sp>
        <p:nvSpPr>
          <p:cNvPr name="Freeform 4" id="4"/>
          <p:cNvSpPr/>
          <p:nvPr/>
        </p:nvSpPr>
        <p:spPr>
          <a:xfrm flipH="false" flipV="false" rot="0">
            <a:off x="7843805" y="893148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5400000">
            <a:off x="2332229" y="3552400"/>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3251185" y="3489052"/>
            <a:ext cx="13033254"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Mô hình ngôn ngữ lớn được huấn luyện chuyên biệt cho tiếng Việt.</a:t>
            </a:r>
          </a:p>
        </p:txBody>
      </p:sp>
      <p:sp>
        <p:nvSpPr>
          <p:cNvPr name="Freeform 7" id="7"/>
          <p:cNvSpPr/>
          <p:nvPr/>
        </p:nvSpPr>
        <p:spPr>
          <a:xfrm flipH="false" flipV="false" rot="5400000">
            <a:off x="2332229" y="4318078"/>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3251185" y="4254730"/>
            <a:ext cx="7059579"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Dựa trên kiến trúc RoBERTa</a:t>
            </a:r>
          </a:p>
        </p:txBody>
      </p:sp>
      <p:sp>
        <p:nvSpPr>
          <p:cNvPr name="Freeform 9" id="9"/>
          <p:cNvSpPr/>
          <p:nvPr/>
        </p:nvSpPr>
        <p:spPr>
          <a:xfrm flipH="false" flipV="false" rot="5400000">
            <a:off x="2332229" y="5083425"/>
            <a:ext cx="625434" cy="554930"/>
          </a:xfrm>
          <a:custGeom>
            <a:avLst/>
            <a:gdLst/>
            <a:ahLst/>
            <a:cxnLst/>
            <a:rect r="r" b="b" t="t" l="l"/>
            <a:pathLst>
              <a:path h="554930" w="625434">
                <a:moveTo>
                  <a:pt x="0" y="0"/>
                </a:moveTo>
                <a:lnTo>
                  <a:pt x="625434" y="0"/>
                </a:lnTo>
                <a:lnTo>
                  <a:pt x="625434" y="554931"/>
                </a:lnTo>
                <a:lnTo>
                  <a:pt x="0" y="5549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3251185" y="5020078"/>
            <a:ext cx="11532558"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Dữ liệu huấn luyện: 20GB văn bản tiếng Việt</a:t>
            </a:r>
          </a:p>
        </p:txBody>
      </p:sp>
      <p:sp>
        <p:nvSpPr>
          <p:cNvPr name="Freeform 11" id="11"/>
          <p:cNvSpPr/>
          <p:nvPr/>
        </p:nvSpPr>
        <p:spPr>
          <a:xfrm flipH="false" flipV="false" rot="5400000">
            <a:off x="2332229" y="5849103"/>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3251185" y="5785755"/>
            <a:ext cx="13690035"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2 phiên bản: base , large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772814" y="3621393"/>
            <a:ext cx="16230600" cy="1946472"/>
          </a:xfrm>
          <a:prstGeom prst="rect">
            <a:avLst/>
          </a:prstGeom>
        </p:spPr>
        <p:txBody>
          <a:bodyPr anchor="t" rtlCol="false" tIns="0" lIns="0" bIns="0" rIns="0">
            <a:spAutoFit/>
          </a:bodyPr>
          <a:lstStyle/>
          <a:p>
            <a:pPr algn="l">
              <a:lnSpc>
                <a:spcPts val="7341"/>
              </a:lnSpc>
            </a:pPr>
            <a:r>
              <a:rPr lang="en-US" sz="7059" b="true">
                <a:solidFill>
                  <a:srgbClr val="FEFEFE"/>
                </a:solidFill>
                <a:latin typeface="Roboto Bold"/>
                <a:ea typeface="Roboto Bold"/>
                <a:cs typeface="Roboto Bold"/>
                <a:sym typeface="Roboto Bold"/>
              </a:rPr>
              <a:t>ƯU ĐIỂM </a:t>
            </a:r>
          </a:p>
          <a:p>
            <a:pPr algn="l">
              <a:lnSpc>
                <a:spcPts val="8047"/>
              </a:lnSpc>
            </a:pPr>
            <a:r>
              <a:rPr lang="en-US" sz="7059" b="true">
                <a:solidFill>
                  <a:srgbClr val="FEFEFE"/>
                </a:solidFill>
                <a:latin typeface="Roboto Bold"/>
                <a:ea typeface="Roboto Bold"/>
                <a:cs typeface="Roboto Bold"/>
                <a:sym typeface="Roboto Bold"/>
              </a:rPr>
              <a:t>CỦA PHOBERT </a:t>
            </a:r>
          </a:p>
        </p:txBody>
      </p:sp>
      <p:sp>
        <p:nvSpPr>
          <p:cNvPr name="Freeform 4" id="4"/>
          <p:cNvSpPr/>
          <p:nvPr/>
        </p:nvSpPr>
        <p:spPr>
          <a:xfrm flipH="false" flipV="false" rot="0">
            <a:off x="7843805" y="893148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5400000">
            <a:off x="7121543" y="3503275"/>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8040500" y="3439928"/>
            <a:ext cx="13033254"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Tối ưu về hiệu suất cho tiếng Việt</a:t>
            </a:r>
          </a:p>
        </p:txBody>
      </p:sp>
      <p:sp>
        <p:nvSpPr>
          <p:cNvPr name="Freeform 7" id="7"/>
          <p:cNvSpPr/>
          <p:nvPr/>
        </p:nvSpPr>
        <p:spPr>
          <a:xfrm flipH="false" flipV="false" rot="5400000">
            <a:off x="7121543" y="4268953"/>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8040500" y="4205605"/>
            <a:ext cx="7059579"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Hiệu quả ngữ nghĩa cao</a:t>
            </a:r>
          </a:p>
        </p:txBody>
      </p:sp>
      <p:sp>
        <p:nvSpPr>
          <p:cNvPr name="Freeform 9" id="9"/>
          <p:cNvSpPr/>
          <p:nvPr/>
        </p:nvSpPr>
        <p:spPr>
          <a:xfrm flipH="false" flipV="false" rot="5400000">
            <a:off x="7121543" y="5034300"/>
            <a:ext cx="625434" cy="554930"/>
          </a:xfrm>
          <a:custGeom>
            <a:avLst/>
            <a:gdLst/>
            <a:ahLst/>
            <a:cxnLst/>
            <a:rect r="r" b="b" t="t" l="l"/>
            <a:pathLst>
              <a:path h="554930" w="625434">
                <a:moveTo>
                  <a:pt x="0" y="0"/>
                </a:moveTo>
                <a:lnTo>
                  <a:pt x="625434" y="0"/>
                </a:lnTo>
                <a:lnTo>
                  <a:pt x="625434" y="554931"/>
                </a:lnTo>
                <a:lnTo>
                  <a:pt x="0" y="5549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8138957" y="4974128"/>
            <a:ext cx="9120343" cy="1225723"/>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Xử lý một cách hiệu quả hiện tượng đồng âm dị nghĩa và từ đa nghĩa trong tiếng Việt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C2F1"/>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819342" y="3386007"/>
            <a:ext cx="13142897" cy="2933163"/>
          </a:xfrm>
          <a:prstGeom prst="rect">
            <a:avLst/>
          </a:prstGeom>
        </p:spPr>
        <p:txBody>
          <a:bodyPr anchor="t" rtlCol="false" tIns="0" lIns="0" bIns="0" rIns="0">
            <a:spAutoFit/>
          </a:bodyPr>
          <a:lstStyle/>
          <a:p>
            <a:pPr algn="ctr">
              <a:lnSpc>
                <a:spcPts val="11535"/>
              </a:lnSpc>
            </a:pPr>
            <a:r>
              <a:rPr lang="en-US" sz="9858" b="true">
                <a:solidFill>
                  <a:srgbClr val="FEFEFE"/>
                </a:solidFill>
                <a:latin typeface="Roboto Bold"/>
                <a:ea typeface="Roboto Bold"/>
                <a:cs typeface="Roboto Bold"/>
                <a:sym typeface="Roboto Bold"/>
              </a:rPr>
              <a:t>TẬP DỮ LIỆU PhoNER_COVID19</a:t>
            </a:r>
          </a:p>
        </p:txBody>
      </p:sp>
      <p:sp>
        <p:nvSpPr>
          <p:cNvPr name="Freeform 11" id="11"/>
          <p:cNvSpPr/>
          <p:nvPr/>
        </p:nvSpPr>
        <p:spPr>
          <a:xfrm flipH="false" flipV="false" rot="0">
            <a:off x="1738870" y="4205349"/>
            <a:ext cx="1483489" cy="458533"/>
          </a:xfrm>
          <a:custGeom>
            <a:avLst/>
            <a:gdLst/>
            <a:ahLst/>
            <a:cxnLst/>
            <a:rect r="r" b="b" t="t" l="l"/>
            <a:pathLst>
              <a:path h="458533" w="1483489">
                <a:moveTo>
                  <a:pt x="0" y="0"/>
                </a:moveTo>
                <a:lnTo>
                  <a:pt x="1483490" y="0"/>
                </a:lnTo>
                <a:lnTo>
                  <a:pt x="1483490" y="458534"/>
                </a:lnTo>
                <a:lnTo>
                  <a:pt x="0" y="4585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028700" y="-252231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7843805" y="893148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028700" y="904875"/>
            <a:ext cx="16230600" cy="2087001"/>
          </a:xfrm>
          <a:prstGeom prst="rect">
            <a:avLst/>
          </a:prstGeom>
        </p:spPr>
        <p:txBody>
          <a:bodyPr anchor="t" rtlCol="false" tIns="0" lIns="0" bIns="0" rIns="0">
            <a:spAutoFit/>
          </a:bodyPr>
          <a:lstStyle/>
          <a:p>
            <a:pPr algn="ctr">
              <a:lnSpc>
                <a:spcPts val="8343"/>
              </a:lnSpc>
            </a:pPr>
            <a:r>
              <a:rPr lang="en-US" b="true" sz="5959">
                <a:solidFill>
                  <a:srgbClr val="FEFEFE"/>
                </a:solidFill>
                <a:latin typeface="Roboto Bold"/>
                <a:ea typeface="Roboto Bold"/>
                <a:cs typeface="Roboto Bold"/>
                <a:sym typeface="Roboto Bold"/>
              </a:rPr>
              <a:t>COVID-19 NAMED ENTITY RECOGNITION FOR VIETNAMESE</a:t>
            </a:r>
          </a:p>
        </p:txBody>
      </p:sp>
      <p:sp>
        <p:nvSpPr>
          <p:cNvPr name="Freeform 4" id="4"/>
          <p:cNvSpPr/>
          <p:nvPr/>
        </p:nvSpPr>
        <p:spPr>
          <a:xfrm flipH="false" flipV="false" rot="0">
            <a:off x="7843805" y="893148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5400000">
            <a:off x="2332229" y="3552400"/>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3251185" y="3489052"/>
            <a:ext cx="13033254"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Xây dựng bởi VinAI Research </a:t>
            </a:r>
          </a:p>
        </p:txBody>
      </p:sp>
      <p:sp>
        <p:nvSpPr>
          <p:cNvPr name="Freeform 7" id="7"/>
          <p:cNvSpPr/>
          <p:nvPr/>
        </p:nvSpPr>
        <p:spPr>
          <a:xfrm flipH="false" flipV="false" rot="5400000">
            <a:off x="2332229" y="4318078"/>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3251185" y="4254730"/>
            <a:ext cx="7059579"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Dựa trên các tin tức về COVID-19</a:t>
            </a:r>
          </a:p>
        </p:txBody>
      </p:sp>
      <p:sp>
        <p:nvSpPr>
          <p:cNvPr name="Freeform 9" id="9"/>
          <p:cNvSpPr/>
          <p:nvPr/>
        </p:nvSpPr>
        <p:spPr>
          <a:xfrm flipH="false" flipV="false" rot="5400000">
            <a:off x="2332229" y="5083425"/>
            <a:ext cx="625434" cy="554930"/>
          </a:xfrm>
          <a:custGeom>
            <a:avLst/>
            <a:gdLst/>
            <a:ahLst/>
            <a:cxnLst/>
            <a:rect r="r" b="b" t="t" l="l"/>
            <a:pathLst>
              <a:path h="554930" w="625434">
                <a:moveTo>
                  <a:pt x="0" y="0"/>
                </a:moveTo>
                <a:lnTo>
                  <a:pt x="625434" y="0"/>
                </a:lnTo>
                <a:lnTo>
                  <a:pt x="625434" y="554931"/>
                </a:lnTo>
                <a:lnTo>
                  <a:pt x="0" y="5549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3251185" y="5020078"/>
            <a:ext cx="11532558"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35.000 thực thể, trên 10.000 câu, thuộc 10 loại thực thể</a:t>
            </a:r>
          </a:p>
        </p:txBody>
      </p:sp>
      <p:sp>
        <p:nvSpPr>
          <p:cNvPr name="Freeform 11" id="11"/>
          <p:cNvSpPr/>
          <p:nvPr/>
        </p:nvSpPr>
        <p:spPr>
          <a:xfrm flipH="false" flipV="false" rot="5400000">
            <a:off x="2332229" y="5849103"/>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3251185" y="5785755"/>
            <a:ext cx="13690035"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Chia thành train, dev, test</a:t>
            </a:r>
          </a:p>
        </p:txBody>
      </p:sp>
      <p:grpSp>
        <p:nvGrpSpPr>
          <p:cNvPr name="Group 13" id="13"/>
          <p:cNvGrpSpPr/>
          <p:nvPr/>
        </p:nvGrpSpPr>
        <p:grpSpPr>
          <a:xfrm rot="0">
            <a:off x="14933379" y="7591156"/>
            <a:ext cx="6020510" cy="602051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C2F1"/>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name="Picture 3" id="3"/>
          <p:cNvPicPr>
            <a:picLocks noChangeAspect="true"/>
          </p:cNvPicPr>
          <p:nvPr/>
        </p:nvPicPr>
        <p:blipFill>
          <a:blip r:embed="rId5"/>
          <a:stretch>
            <a:fillRect/>
          </a:stretch>
        </p:blipFill>
        <p:spPr>
          <a:xfrm rot="0">
            <a:off x="8677482" y="845845"/>
            <a:ext cx="9109507" cy="8916955"/>
          </a:xfrm>
          <a:prstGeom prst="rect">
            <a:avLst/>
          </a:prstGeom>
        </p:spPr>
      </p:pic>
      <p:graphicFrame>
        <p:nvGraphicFramePr>
          <p:cNvPr name="Table 4" id="4"/>
          <p:cNvGraphicFramePr>
            <a:graphicFrameLocks noGrp="true"/>
          </p:cNvGraphicFramePr>
          <p:nvPr/>
        </p:nvGraphicFramePr>
        <p:xfrm>
          <a:off x="1536998" y="3295621"/>
          <a:ext cx="6241224" cy="3962400"/>
        </p:xfrm>
        <a:graphic>
          <a:graphicData uri="http://schemas.openxmlformats.org/drawingml/2006/table">
            <a:tbl>
              <a:tblPr/>
              <a:tblGrid>
                <a:gridCol w="3120612"/>
                <a:gridCol w="3120612"/>
              </a:tblGrid>
              <a:tr h="990600">
                <a:tc>
                  <a:txBody>
                    <a:bodyPr anchor="t" rtlCol="false"/>
                    <a:lstStyle/>
                    <a:p>
                      <a:pPr algn="ctr">
                        <a:lnSpc>
                          <a:spcPts val="3779"/>
                        </a:lnSpc>
                        <a:defRPr/>
                      </a:pPr>
                      <a:r>
                        <a:rPr lang="en-US" sz="2699" b="true">
                          <a:solidFill>
                            <a:srgbClr val="000000"/>
                          </a:solidFill>
                          <a:latin typeface="Open Sans Bold"/>
                          <a:ea typeface="Open Sans Bold"/>
                          <a:cs typeface="Open Sans Bold"/>
                          <a:sym typeface="Open Sans Bold"/>
                        </a:rPr>
                        <a:t>Tập dữ liệu </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gradFill rotWithShape="true">
                      <a:gsLst>
                        <a:gs pos="0">
                          <a:srgbClr val="FFF7AD">
                            <a:alpha val="100000"/>
                          </a:srgbClr>
                        </a:gs>
                        <a:gs pos="100000">
                          <a:srgbClr val="FFA9F9">
                            <a:alpha val="100000"/>
                          </a:srgbClr>
                        </a:gs>
                      </a:gsLst>
                      <a:lin ang="0"/>
                    </a:gradFill>
                  </a:tcPr>
                </a:tc>
                <a:tc>
                  <a:txBody>
                    <a:bodyPr anchor="t" rtlCol="false"/>
                    <a:lstStyle/>
                    <a:p>
                      <a:pPr algn="ctr">
                        <a:lnSpc>
                          <a:spcPts val="3779"/>
                        </a:lnSpc>
                        <a:defRPr/>
                      </a:pPr>
                      <a:r>
                        <a:rPr lang="en-US" sz="2699" b="true">
                          <a:solidFill>
                            <a:srgbClr val="000000"/>
                          </a:solidFill>
                          <a:latin typeface="Open Sans Bold"/>
                          <a:ea typeface="Open Sans Bold"/>
                          <a:cs typeface="Open Sans Bold"/>
                          <a:sym typeface="Open Sans Bold"/>
                        </a:rPr>
                        <a:t>Số câu </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gradFill rotWithShape="true">
                      <a:gsLst>
                        <a:gs pos="0">
                          <a:srgbClr val="FFF7AD">
                            <a:alpha val="100000"/>
                          </a:srgbClr>
                        </a:gs>
                        <a:gs pos="100000">
                          <a:srgbClr val="FFA9F9">
                            <a:alpha val="100000"/>
                          </a:srgbClr>
                        </a:gs>
                      </a:gsLst>
                      <a:lin ang="0"/>
                    </a:gradFill>
                  </a:tcPr>
                </a:tc>
              </a:tr>
              <a:tr h="990600">
                <a:tc>
                  <a:txBody>
                    <a:bodyPr anchor="t" rtlCol="false"/>
                    <a:lstStyle/>
                    <a:p>
                      <a:pPr algn="ctr">
                        <a:lnSpc>
                          <a:spcPts val="3779"/>
                        </a:lnSpc>
                        <a:defRPr/>
                      </a:pPr>
                      <a:r>
                        <a:rPr lang="en-US" sz="2699" b="true">
                          <a:solidFill>
                            <a:srgbClr val="000000"/>
                          </a:solidFill>
                          <a:latin typeface="Open Sans Bold"/>
                          <a:ea typeface="Open Sans Bold"/>
                          <a:cs typeface="Open Sans Bold"/>
                          <a:sym typeface="Open Sans Bold"/>
                        </a:rPr>
                        <a:t>Train</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c>
                  <a:txBody>
                    <a:bodyPr anchor="t" rtlCol="false"/>
                    <a:lstStyle/>
                    <a:p>
                      <a:pPr algn="ctr">
                        <a:lnSpc>
                          <a:spcPts val="3779"/>
                        </a:lnSpc>
                        <a:defRPr/>
                      </a:pPr>
                      <a:r>
                        <a:rPr lang="en-US" sz="2699" b="true">
                          <a:solidFill>
                            <a:srgbClr val="000000"/>
                          </a:solidFill>
                          <a:latin typeface="Open Sans Bold"/>
                          <a:ea typeface="Open Sans Bold"/>
                          <a:cs typeface="Open Sans Bold"/>
                          <a:sym typeface="Open Sans Bold"/>
                        </a:rPr>
                        <a:t>5027</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r>
              <a:tr h="990600">
                <a:tc>
                  <a:txBody>
                    <a:bodyPr anchor="t" rtlCol="false"/>
                    <a:lstStyle/>
                    <a:p>
                      <a:pPr algn="ctr">
                        <a:lnSpc>
                          <a:spcPts val="3779"/>
                        </a:lnSpc>
                        <a:defRPr/>
                      </a:pPr>
                      <a:r>
                        <a:rPr lang="en-US" sz="2699" b="true">
                          <a:solidFill>
                            <a:srgbClr val="000000"/>
                          </a:solidFill>
                          <a:latin typeface="Open Sans Bold"/>
                          <a:ea typeface="Open Sans Bold"/>
                          <a:cs typeface="Open Sans Bold"/>
                          <a:sym typeface="Open Sans Bold"/>
                        </a:rPr>
                        <a:t>D</a:t>
                      </a:r>
                      <a:r>
                        <a:rPr lang="en-US" sz="2699" b="true">
                          <a:solidFill>
                            <a:srgbClr val="000000"/>
                          </a:solidFill>
                          <a:latin typeface="Open Sans Bold"/>
                          <a:ea typeface="Open Sans Bold"/>
                          <a:cs typeface="Open Sans Bold"/>
                          <a:sym typeface="Open Sans Bold"/>
                        </a:rPr>
                        <a:t>ev</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c>
                  <a:txBody>
                    <a:bodyPr anchor="t" rtlCol="false"/>
                    <a:lstStyle/>
                    <a:p>
                      <a:pPr algn="ctr">
                        <a:lnSpc>
                          <a:spcPts val="3779"/>
                        </a:lnSpc>
                        <a:defRPr/>
                      </a:pPr>
                      <a:r>
                        <a:rPr lang="en-US" sz="2699" b="true">
                          <a:solidFill>
                            <a:srgbClr val="000000"/>
                          </a:solidFill>
                          <a:latin typeface="Open Sans Bold"/>
                          <a:ea typeface="Open Sans Bold"/>
                          <a:cs typeface="Open Sans Bold"/>
                          <a:sym typeface="Open Sans Bold"/>
                        </a:rPr>
                        <a:t>3</a:t>
                      </a:r>
                      <a:r>
                        <a:rPr lang="en-US" sz="2699" b="true">
                          <a:solidFill>
                            <a:srgbClr val="000000"/>
                          </a:solidFill>
                          <a:latin typeface="Open Sans Bold"/>
                          <a:ea typeface="Open Sans Bold"/>
                          <a:cs typeface="Open Sans Bold"/>
                          <a:sym typeface="Open Sans Bold"/>
                        </a:rPr>
                        <a:t>000</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r>
              <a:tr h="990600">
                <a:tc>
                  <a:txBody>
                    <a:bodyPr anchor="t" rtlCol="false"/>
                    <a:lstStyle/>
                    <a:p>
                      <a:pPr algn="ctr">
                        <a:lnSpc>
                          <a:spcPts val="3779"/>
                        </a:lnSpc>
                        <a:defRPr/>
                      </a:pPr>
                      <a:r>
                        <a:rPr lang="en-US" sz="2699" b="true">
                          <a:solidFill>
                            <a:srgbClr val="000000"/>
                          </a:solidFill>
                          <a:latin typeface="Open Sans Bold"/>
                          <a:ea typeface="Open Sans Bold"/>
                          <a:cs typeface="Open Sans Bold"/>
                          <a:sym typeface="Open Sans Bold"/>
                        </a:rPr>
                        <a:t>Test</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c>
                  <a:txBody>
                    <a:bodyPr anchor="t" rtlCol="false"/>
                    <a:lstStyle/>
                    <a:p>
                      <a:pPr algn="ctr">
                        <a:lnSpc>
                          <a:spcPts val="3779"/>
                        </a:lnSpc>
                        <a:defRPr/>
                      </a:pPr>
                      <a:r>
                        <a:rPr lang="en-US" sz="2699" b="true">
                          <a:solidFill>
                            <a:srgbClr val="000000"/>
                          </a:solidFill>
                          <a:latin typeface="Open Sans Bold"/>
                          <a:ea typeface="Open Sans Bold"/>
                          <a:cs typeface="Open Sans Bold"/>
                          <a:sym typeface="Open Sans Bold"/>
                        </a:rPr>
                        <a:t>2000</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r>
            </a:tbl>
          </a:graphicData>
        </a:graphic>
      </p:graphicFrame>
      <p:sp>
        <p:nvSpPr>
          <p:cNvPr name="TextBox 5" id="5"/>
          <p:cNvSpPr txBox="true"/>
          <p:nvPr/>
        </p:nvSpPr>
        <p:spPr>
          <a:xfrm rot="0">
            <a:off x="797265" y="759395"/>
            <a:ext cx="16230600" cy="845576"/>
          </a:xfrm>
          <a:prstGeom prst="rect">
            <a:avLst/>
          </a:prstGeom>
        </p:spPr>
        <p:txBody>
          <a:bodyPr anchor="t" rtlCol="false" tIns="0" lIns="0" bIns="0" rIns="0">
            <a:spAutoFit/>
          </a:bodyPr>
          <a:lstStyle/>
          <a:p>
            <a:pPr algn="ctr">
              <a:lnSpc>
                <a:spcPts val="6943"/>
              </a:lnSpc>
            </a:pPr>
            <a:r>
              <a:rPr lang="en-US" b="true" sz="4959">
                <a:solidFill>
                  <a:srgbClr val="FEFEFE"/>
                </a:solidFill>
                <a:latin typeface="Roboto Bold"/>
                <a:ea typeface="Roboto Bold"/>
                <a:cs typeface="Roboto Bold"/>
                <a:sym typeface="Roboto Bold"/>
              </a:rPr>
              <a:t>THỐNG KÊ DỮ LIỆU</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name="Picture 3" id="3"/>
          <p:cNvPicPr>
            <a:picLocks noChangeAspect="true"/>
          </p:cNvPicPr>
          <p:nvPr/>
        </p:nvPicPr>
        <p:blipFill>
          <a:blip r:embed="rId5"/>
          <a:stretch>
            <a:fillRect/>
          </a:stretch>
        </p:blipFill>
        <p:spPr>
          <a:xfrm rot="0">
            <a:off x="-1828800" y="-1828800"/>
            <a:ext cx="21945600" cy="13561176"/>
          </a:xfrm>
          <a:prstGeom prst="rect">
            <a:avLst/>
          </a:prstGeom>
        </p:spPr>
      </p:pic>
      <p:sp>
        <p:nvSpPr>
          <p:cNvPr name="TextBox 4" id="4"/>
          <p:cNvSpPr txBox="true"/>
          <p:nvPr/>
        </p:nvSpPr>
        <p:spPr>
          <a:xfrm rot="0">
            <a:off x="4032027" y="9182100"/>
            <a:ext cx="11726930" cy="564905"/>
          </a:xfrm>
          <a:prstGeom prst="rect">
            <a:avLst/>
          </a:prstGeom>
        </p:spPr>
        <p:txBody>
          <a:bodyPr anchor="t" rtlCol="false" tIns="0" lIns="0" bIns="0" rIns="0">
            <a:spAutoFit/>
          </a:bodyPr>
          <a:lstStyle/>
          <a:p>
            <a:pPr algn="ctr">
              <a:lnSpc>
                <a:spcPts val="4563"/>
              </a:lnSpc>
            </a:pPr>
            <a:r>
              <a:rPr lang="en-US" sz="3259" b="true">
                <a:solidFill>
                  <a:srgbClr val="FEFEFE"/>
                </a:solidFill>
                <a:latin typeface="Roboto Bold"/>
                <a:ea typeface="Roboto Bold"/>
                <a:cs typeface="Roboto Bold"/>
                <a:sym typeface="Roboto Bold"/>
              </a:rPr>
              <a:t>Số lượng các thực thể trong tập dữ liệu</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C2F1"/>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028700" y="3657955"/>
            <a:ext cx="16489666" cy="1143608"/>
          </a:xfrm>
          <a:prstGeom prst="rect">
            <a:avLst/>
          </a:prstGeom>
        </p:spPr>
        <p:txBody>
          <a:bodyPr anchor="t" rtlCol="false" tIns="0" lIns="0" bIns="0" rIns="0">
            <a:spAutoFit/>
          </a:bodyPr>
          <a:lstStyle/>
          <a:p>
            <a:pPr algn="ctr">
              <a:lnSpc>
                <a:spcPts val="8961"/>
              </a:lnSpc>
            </a:pPr>
            <a:r>
              <a:rPr lang="en-US" sz="7659" b="true">
                <a:solidFill>
                  <a:srgbClr val="FEFEFE"/>
                </a:solidFill>
                <a:latin typeface="Roboto Bold"/>
                <a:ea typeface="Roboto Bold"/>
                <a:cs typeface="Roboto Bold"/>
                <a:sym typeface="Roboto Bold"/>
              </a:rPr>
              <a:t>THỰC NGHIỆM </a:t>
            </a:r>
          </a:p>
        </p:txBody>
      </p:sp>
      <p:sp>
        <p:nvSpPr>
          <p:cNvPr name="Freeform 11" id="11"/>
          <p:cNvSpPr/>
          <p:nvPr/>
        </p:nvSpPr>
        <p:spPr>
          <a:xfrm flipH="false" flipV="false" rot="0">
            <a:off x="1183014" y="3832829"/>
            <a:ext cx="1483489" cy="458533"/>
          </a:xfrm>
          <a:custGeom>
            <a:avLst/>
            <a:gdLst/>
            <a:ahLst/>
            <a:cxnLst/>
            <a:rect r="r" b="b" t="t" l="l"/>
            <a:pathLst>
              <a:path h="458533" w="1483489">
                <a:moveTo>
                  <a:pt x="0" y="0"/>
                </a:moveTo>
                <a:lnTo>
                  <a:pt x="1483490" y="0"/>
                </a:lnTo>
                <a:lnTo>
                  <a:pt x="1483490" y="458533"/>
                </a:lnTo>
                <a:lnTo>
                  <a:pt x="0" y="4585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028700" y="-252231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7843805" y="893148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3603657" y="2406028"/>
            <a:ext cx="11359435" cy="6389682"/>
          </a:xfrm>
          <a:custGeom>
            <a:avLst/>
            <a:gdLst/>
            <a:ahLst/>
            <a:cxnLst/>
            <a:rect r="r" b="b" t="t" l="l"/>
            <a:pathLst>
              <a:path h="6389682" w="11359435">
                <a:moveTo>
                  <a:pt x="0" y="0"/>
                </a:moveTo>
                <a:lnTo>
                  <a:pt x="11359436" y="0"/>
                </a:lnTo>
                <a:lnTo>
                  <a:pt x="11359436" y="6389682"/>
                </a:lnTo>
                <a:lnTo>
                  <a:pt x="0" y="6389682"/>
                </a:lnTo>
                <a:lnTo>
                  <a:pt x="0" y="0"/>
                </a:lnTo>
                <a:close/>
              </a:path>
            </a:pathLst>
          </a:custGeom>
          <a:blipFill>
            <a:blip r:embed="rId2"/>
            <a:stretch>
              <a:fillRect l="0" t="-4603" r="0" b="-13841"/>
            </a:stretch>
          </a:blipFill>
        </p:spPr>
      </p:sp>
      <p:sp>
        <p:nvSpPr>
          <p:cNvPr name="TextBox 3" id="3"/>
          <p:cNvSpPr txBox="true"/>
          <p:nvPr/>
        </p:nvSpPr>
        <p:spPr>
          <a:xfrm rot="0">
            <a:off x="1028700" y="662566"/>
            <a:ext cx="16230600" cy="1029726"/>
          </a:xfrm>
          <a:prstGeom prst="rect">
            <a:avLst/>
          </a:prstGeom>
        </p:spPr>
        <p:txBody>
          <a:bodyPr anchor="t" rtlCol="false" tIns="0" lIns="0" bIns="0" rIns="0">
            <a:spAutoFit/>
          </a:bodyPr>
          <a:lstStyle/>
          <a:p>
            <a:pPr algn="ctr">
              <a:lnSpc>
                <a:spcPts val="8343"/>
              </a:lnSpc>
            </a:pPr>
            <a:r>
              <a:rPr lang="en-US" b="true" sz="5959">
                <a:solidFill>
                  <a:srgbClr val="FEFEFE"/>
                </a:solidFill>
                <a:latin typeface="Roboto Bold"/>
                <a:ea typeface="Roboto Bold"/>
                <a:cs typeface="Roboto Bold"/>
                <a:sym typeface="Roboto Bold"/>
              </a:rPr>
              <a:t>TỔNG QUAN QUÁ TRÌNH TINH CHỈNH</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5400000">
            <a:off x="1525410" y="3441205"/>
            <a:ext cx="625434" cy="554930"/>
          </a:xfrm>
          <a:custGeom>
            <a:avLst/>
            <a:gdLst/>
            <a:ahLst/>
            <a:cxnLst/>
            <a:rect r="r" b="b" t="t" l="l"/>
            <a:pathLst>
              <a:path h="554930" w="625434">
                <a:moveTo>
                  <a:pt x="0" y="0"/>
                </a:moveTo>
                <a:lnTo>
                  <a:pt x="625434" y="0"/>
                </a:lnTo>
                <a:lnTo>
                  <a:pt x="625434" y="554931"/>
                </a:lnTo>
                <a:lnTo>
                  <a:pt x="0" y="5549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5400000">
            <a:off x="1525410" y="4206883"/>
            <a:ext cx="625434" cy="554930"/>
          </a:xfrm>
          <a:custGeom>
            <a:avLst/>
            <a:gdLst/>
            <a:ahLst/>
            <a:cxnLst/>
            <a:rect r="r" b="b" t="t" l="l"/>
            <a:pathLst>
              <a:path h="554930" w="625434">
                <a:moveTo>
                  <a:pt x="0" y="0"/>
                </a:moveTo>
                <a:lnTo>
                  <a:pt x="625434" y="0"/>
                </a:lnTo>
                <a:lnTo>
                  <a:pt x="625434" y="554931"/>
                </a:lnTo>
                <a:lnTo>
                  <a:pt x="0" y="5549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1349063" y="3244402"/>
            <a:ext cx="4613177" cy="4613177"/>
          </a:xfrm>
          <a:custGeom>
            <a:avLst/>
            <a:gdLst/>
            <a:ahLst/>
            <a:cxnLst/>
            <a:rect r="r" b="b" t="t" l="l"/>
            <a:pathLst>
              <a:path h="4613177" w="4613177">
                <a:moveTo>
                  <a:pt x="0" y="0"/>
                </a:moveTo>
                <a:lnTo>
                  <a:pt x="4613176" y="0"/>
                </a:lnTo>
                <a:lnTo>
                  <a:pt x="4613176" y="4613177"/>
                </a:lnTo>
                <a:lnTo>
                  <a:pt x="0" y="4613177"/>
                </a:lnTo>
                <a:lnTo>
                  <a:pt x="0" y="0"/>
                </a:lnTo>
                <a:close/>
              </a:path>
            </a:pathLst>
          </a:custGeom>
          <a:blipFill>
            <a:blip r:embed="rId7"/>
            <a:stretch>
              <a:fillRect l="0" t="0" r="0" b="0"/>
            </a:stretch>
          </a:blipFill>
        </p:spPr>
      </p:sp>
      <p:sp>
        <p:nvSpPr>
          <p:cNvPr name="TextBox 6" id="6"/>
          <p:cNvSpPr txBox="true"/>
          <p:nvPr/>
        </p:nvSpPr>
        <p:spPr>
          <a:xfrm rot="0">
            <a:off x="2444367" y="3377858"/>
            <a:ext cx="13033254"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Đọc file CoNLL, tách câu và nhãn.</a:t>
            </a:r>
          </a:p>
        </p:txBody>
      </p:sp>
      <p:sp>
        <p:nvSpPr>
          <p:cNvPr name="TextBox 7" id="7"/>
          <p:cNvSpPr txBox="true"/>
          <p:nvPr/>
        </p:nvSpPr>
        <p:spPr>
          <a:xfrm rot="0">
            <a:off x="2444367" y="4143536"/>
            <a:ext cx="6950275" cy="1225723"/>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Mục đích: </a:t>
            </a:r>
            <a:r>
              <a:rPr lang="en-US" sz="3493" spc="-69">
                <a:solidFill>
                  <a:srgbClr val="FEFEFE"/>
                </a:solidFill>
                <a:latin typeface="Roboto"/>
                <a:ea typeface="Roboto"/>
                <a:cs typeface="Roboto"/>
                <a:sym typeface="Roboto"/>
              </a:rPr>
              <a:t>Chuyển dữ liệu thô thành list token và label.</a:t>
            </a:r>
          </a:p>
        </p:txBody>
      </p:sp>
      <p:sp>
        <p:nvSpPr>
          <p:cNvPr name="TextBox 8" id="8"/>
          <p:cNvSpPr txBox="true"/>
          <p:nvPr/>
        </p:nvSpPr>
        <p:spPr>
          <a:xfrm rot="0">
            <a:off x="1028700" y="1020190"/>
            <a:ext cx="16230600" cy="1029726"/>
          </a:xfrm>
          <a:prstGeom prst="rect">
            <a:avLst/>
          </a:prstGeom>
        </p:spPr>
        <p:txBody>
          <a:bodyPr anchor="t" rtlCol="false" tIns="0" lIns="0" bIns="0" rIns="0">
            <a:spAutoFit/>
          </a:bodyPr>
          <a:lstStyle/>
          <a:p>
            <a:pPr algn="ctr">
              <a:lnSpc>
                <a:spcPts val="8343"/>
              </a:lnSpc>
            </a:pPr>
            <a:r>
              <a:rPr lang="en-US" b="true" sz="5959">
                <a:solidFill>
                  <a:srgbClr val="FEFEFE"/>
                </a:solidFill>
                <a:latin typeface="Roboto Bold"/>
                <a:ea typeface="Roboto Bold"/>
                <a:cs typeface="Roboto Bold"/>
                <a:sym typeface="Roboto Bold"/>
              </a:rPr>
              <a:t>ĐỌC DỮ LIỆU</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5400000">
            <a:off x="569982" y="3373997"/>
            <a:ext cx="625434" cy="554930"/>
          </a:xfrm>
          <a:custGeom>
            <a:avLst/>
            <a:gdLst/>
            <a:ahLst/>
            <a:cxnLst/>
            <a:rect r="r" b="b" t="t" l="l"/>
            <a:pathLst>
              <a:path h="554930" w="625434">
                <a:moveTo>
                  <a:pt x="0" y="0"/>
                </a:moveTo>
                <a:lnTo>
                  <a:pt x="625434" y="0"/>
                </a:lnTo>
                <a:lnTo>
                  <a:pt x="625434" y="554931"/>
                </a:lnTo>
                <a:lnTo>
                  <a:pt x="0" y="5549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5400000">
            <a:off x="569982" y="5177664"/>
            <a:ext cx="625434" cy="554930"/>
          </a:xfrm>
          <a:custGeom>
            <a:avLst/>
            <a:gdLst/>
            <a:ahLst/>
            <a:cxnLst/>
            <a:rect r="r" b="b" t="t" l="l"/>
            <a:pathLst>
              <a:path h="554930" w="625434">
                <a:moveTo>
                  <a:pt x="0" y="0"/>
                </a:moveTo>
                <a:lnTo>
                  <a:pt x="625434" y="0"/>
                </a:lnTo>
                <a:lnTo>
                  <a:pt x="625434" y="554931"/>
                </a:lnTo>
                <a:lnTo>
                  <a:pt x="0" y="5549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1593018" y="3338746"/>
            <a:ext cx="6349152" cy="4232768"/>
          </a:xfrm>
          <a:custGeom>
            <a:avLst/>
            <a:gdLst/>
            <a:ahLst/>
            <a:cxnLst/>
            <a:rect r="r" b="b" t="t" l="l"/>
            <a:pathLst>
              <a:path h="4232768" w="6349152">
                <a:moveTo>
                  <a:pt x="0" y="0"/>
                </a:moveTo>
                <a:lnTo>
                  <a:pt x="6349153" y="0"/>
                </a:lnTo>
                <a:lnTo>
                  <a:pt x="6349153" y="4232768"/>
                </a:lnTo>
                <a:lnTo>
                  <a:pt x="0" y="4232768"/>
                </a:lnTo>
                <a:lnTo>
                  <a:pt x="0" y="0"/>
                </a:lnTo>
                <a:close/>
              </a:path>
            </a:pathLst>
          </a:custGeom>
          <a:blipFill>
            <a:blip r:embed="rId7"/>
            <a:stretch>
              <a:fillRect l="0" t="0" r="0" b="0"/>
            </a:stretch>
          </a:blipFill>
        </p:spPr>
      </p:sp>
      <p:sp>
        <p:nvSpPr>
          <p:cNvPr name="TextBox 6" id="6"/>
          <p:cNvSpPr txBox="true"/>
          <p:nvPr/>
        </p:nvSpPr>
        <p:spPr>
          <a:xfrm rot="0">
            <a:off x="1488938" y="3310650"/>
            <a:ext cx="9530787" cy="1225723"/>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Chuẩn hóa và chuyển dữ liệu sang format chuẩn của Hugging Face.</a:t>
            </a:r>
          </a:p>
        </p:txBody>
      </p:sp>
      <p:sp>
        <p:nvSpPr>
          <p:cNvPr name="TextBox 7" id="7"/>
          <p:cNvSpPr txBox="true"/>
          <p:nvPr/>
        </p:nvSpPr>
        <p:spPr>
          <a:xfrm rot="0">
            <a:off x="1488938" y="5114317"/>
            <a:ext cx="9530787" cy="1225723"/>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Mục đích: Sẵn sàng cho các bước xử lý và huấn luyện sau.</a:t>
            </a:r>
          </a:p>
        </p:txBody>
      </p:sp>
      <p:sp>
        <p:nvSpPr>
          <p:cNvPr name="TextBox 8" id="8"/>
          <p:cNvSpPr txBox="true"/>
          <p:nvPr/>
        </p:nvSpPr>
        <p:spPr>
          <a:xfrm rot="0">
            <a:off x="1028700" y="959222"/>
            <a:ext cx="16230600" cy="1029726"/>
          </a:xfrm>
          <a:prstGeom prst="rect">
            <a:avLst/>
          </a:prstGeom>
        </p:spPr>
        <p:txBody>
          <a:bodyPr anchor="t" rtlCol="false" tIns="0" lIns="0" bIns="0" rIns="0">
            <a:spAutoFit/>
          </a:bodyPr>
          <a:lstStyle/>
          <a:p>
            <a:pPr algn="ctr">
              <a:lnSpc>
                <a:spcPts val="8343"/>
              </a:lnSpc>
            </a:pPr>
            <a:r>
              <a:rPr lang="en-US" b="true" sz="5959">
                <a:solidFill>
                  <a:srgbClr val="FEFEFE"/>
                </a:solidFill>
                <a:latin typeface="Roboto Bold"/>
                <a:ea typeface="Roboto Bold"/>
                <a:cs typeface="Roboto Bold"/>
                <a:sym typeface="Roboto Bold"/>
              </a:rPr>
              <a:t>CHUYỂN SANG DATASET CỦA HUGGING FACE</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5400000">
            <a:off x="1767719" y="3064995"/>
            <a:ext cx="625434" cy="554930"/>
          </a:xfrm>
          <a:custGeom>
            <a:avLst/>
            <a:gdLst/>
            <a:ahLst/>
            <a:cxnLst/>
            <a:rect r="r" b="b" t="t" l="l"/>
            <a:pathLst>
              <a:path h="554930" w="625434">
                <a:moveTo>
                  <a:pt x="0" y="0"/>
                </a:moveTo>
                <a:lnTo>
                  <a:pt x="625434" y="0"/>
                </a:lnTo>
                <a:lnTo>
                  <a:pt x="625434" y="554931"/>
                </a:lnTo>
                <a:lnTo>
                  <a:pt x="0" y="5549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5400000">
            <a:off x="1767719" y="3830673"/>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3526689" y="5402624"/>
            <a:ext cx="11234623" cy="3100698"/>
          </a:xfrm>
          <a:custGeom>
            <a:avLst/>
            <a:gdLst/>
            <a:ahLst/>
            <a:cxnLst/>
            <a:rect r="r" b="b" t="t" l="l"/>
            <a:pathLst>
              <a:path h="3100698" w="11234623">
                <a:moveTo>
                  <a:pt x="0" y="0"/>
                </a:moveTo>
                <a:lnTo>
                  <a:pt x="11234622" y="0"/>
                </a:lnTo>
                <a:lnTo>
                  <a:pt x="11234622" y="3100698"/>
                </a:lnTo>
                <a:lnTo>
                  <a:pt x="0" y="3100698"/>
                </a:lnTo>
                <a:lnTo>
                  <a:pt x="0" y="0"/>
                </a:lnTo>
                <a:close/>
              </a:path>
            </a:pathLst>
          </a:custGeom>
          <a:blipFill>
            <a:blip r:embed="rId7"/>
            <a:stretch>
              <a:fillRect l="0" t="0" r="0" b="0"/>
            </a:stretch>
          </a:blipFill>
        </p:spPr>
      </p:sp>
      <p:sp>
        <p:nvSpPr>
          <p:cNvPr name="TextBox 6" id="6"/>
          <p:cNvSpPr txBox="true"/>
          <p:nvPr/>
        </p:nvSpPr>
        <p:spPr>
          <a:xfrm rot="0">
            <a:off x="2686676" y="3001648"/>
            <a:ext cx="13033254"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Tokenize dữ liệu bằng PhoBERT</a:t>
            </a:r>
          </a:p>
        </p:txBody>
      </p:sp>
      <p:sp>
        <p:nvSpPr>
          <p:cNvPr name="TextBox 7" id="7"/>
          <p:cNvSpPr txBox="true"/>
          <p:nvPr/>
        </p:nvSpPr>
        <p:spPr>
          <a:xfrm rot="0">
            <a:off x="2686676" y="3767325"/>
            <a:ext cx="11848847"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Mục đích: Đảm</a:t>
            </a:r>
            <a:r>
              <a:rPr lang="en-US" sz="3493" spc="-69">
                <a:solidFill>
                  <a:srgbClr val="FEFEFE"/>
                </a:solidFill>
                <a:latin typeface="Roboto"/>
                <a:ea typeface="Roboto"/>
                <a:cs typeface="Roboto"/>
                <a:sym typeface="Roboto"/>
              </a:rPr>
              <a:t> bảo mô hình đọc được input và nhãn phù hợp.</a:t>
            </a:r>
          </a:p>
        </p:txBody>
      </p:sp>
      <p:sp>
        <p:nvSpPr>
          <p:cNvPr name="TextBox 8" id="8"/>
          <p:cNvSpPr txBox="true"/>
          <p:nvPr/>
        </p:nvSpPr>
        <p:spPr>
          <a:xfrm rot="0">
            <a:off x="1028700" y="1020190"/>
            <a:ext cx="16230600" cy="1029726"/>
          </a:xfrm>
          <a:prstGeom prst="rect">
            <a:avLst/>
          </a:prstGeom>
        </p:spPr>
        <p:txBody>
          <a:bodyPr anchor="t" rtlCol="false" tIns="0" lIns="0" bIns="0" rIns="0">
            <a:spAutoFit/>
          </a:bodyPr>
          <a:lstStyle/>
          <a:p>
            <a:pPr algn="ctr">
              <a:lnSpc>
                <a:spcPts val="8343"/>
              </a:lnSpc>
            </a:pPr>
            <a:r>
              <a:rPr lang="en-US" b="true" sz="5959">
                <a:solidFill>
                  <a:srgbClr val="FEFEFE"/>
                </a:solidFill>
                <a:latin typeface="Roboto Bold"/>
                <a:ea typeface="Roboto Bold"/>
                <a:cs typeface="Roboto Bold"/>
                <a:sym typeface="Roboto Bold"/>
              </a:rPr>
              <a:t> TOKENIZER</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5400000">
            <a:off x="2010029" y="2618568"/>
            <a:ext cx="625434" cy="554930"/>
          </a:xfrm>
          <a:custGeom>
            <a:avLst/>
            <a:gdLst/>
            <a:ahLst/>
            <a:cxnLst/>
            <a:rect r="r" b="b" t="t" l="l"/>
            <a:pathLst>
              <a:path h="554930" w="625434">
                <a:moveTo>
                  <a:pt x="0" y="0"/>
                </a:moveTo>
                <a:lnTo>
                  <a:pt x="625433" y="0"/>
                </a:lnTo>
                <a:lnTo>
                  <a:pt x="625433" y="554930"/>
                </a:lnTo>
                <a:lnTo>
                  <a:pt x="0" y="5549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5400000">
            <a:off x="2010029" y="3384245"/>
            <a:ext cx="625434" cy="554930"/>
          </a:xfrm>
          <a:custGeom>
            <a:avLst/>
            <a:gdLst/>
            <a:ahLst/>
            <a:cxnLst/>
            <a:rect r="r" b="b" t="t" l="l"/>
            <a:pathLst>
              <a:path h="554930" w="625434">
                <a:moveTo>
                  <a:pt x="0" y="0"/>
                </a:moveTo>
                <a:lnTo>
                  <a:pt x="625433" y="0"/>
                </a:lnTo>
                <a:lnTo>
                  <a:pt x="625433" y="554931"/>
                </a:lnTo>
                <a:lnTo>
                  <a:pt x="0" y="5549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7018903" y="4508521"/>
            <a:ext cx="5239277" cy="5239277"/>
          </a:xfrm>
          <a:custGeom>
            <a:avLst/>
            <a:gdLst/>
            <a:ahLst/>
            <a:cxnLst/>
            <a:rect r="r" b="b" t="t" l="l"/>
            <a:pathLst>
              <a:path h="5239277" w="5239277">
                <a:moveTo>
                  <a:pt x="0" y="0"/>
                </a:moveTo>
                <a:lnTo>
                  <a:pt x="5239277" y="0"/>
                </a:lnTo>
                <a:lnTo>
                  <a:pt x="5239277" y="5239277"/>
                </a:lnTo>
                <a:lnTo>
                  <a:pt x="0" y="5239277"/>
                </a:lnTo>
                <a:lnTo>
                  <a:pt x="0" y="0"/>
                </a:lnTo>
                <a:close/>
              </a:path>
            </a:pathLst>
          </a:custGeom>
          <a:blipFill>
            <a:blip r:embed="rId7"/>
            <a:stretch>
              <a:fillRect l="0" t="0" r="0" b="0"/>
            </a:stretch>
          </a:blipFill>
        </p:spPr>
      </p:sp>
      <p:sp>
        <p:nvSpPr>
          <p:cNvPr name="TextBox 6" id="6"/>
          <p:cNvSpPr txBox="true"/>
          <p:nvPr/>
        </p:nvSpPr>
        <p:spPr>
          <a:xfrm rot="0">
            <a:off x="2928985" y="2555220"/>
            <a:ext cx="13033254"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Tạo DataLoader PyTorch cho huấn luyện NER.</a:t>
            </a:r>
          </a:p>
        </p:txBody>
      </p:sp>
      <p:sp>
        <p:nvSpPr>
          <p:cNvPr name="TextBox 7" id="7"/>
          <p:cNvSpPr txBox="true"/>
          <p:nvPr/>
        </p:nvSpPr>
        <p:spPr>
          <a:xfrm rot="0">
            <a:off x="2928985" y="3320898"/>
            <a:ext cx="11848847"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Mục đích: Tối</a:t>
            </a:r>
            <a:r>
              <a:rPr lang="en-US" sz="3493" spc="-69">
                <a:solidFill>
                  <a:srgbClr val="FEFEFE"/>
                </a:solidFill>
                <a:latin typeface="Roboto"/>
                <a:ea typeface="Roboto"/>
                <a:cs typeface="Roboto"/>
                <a:sym typeface="Roboto"/>
              </a:rPr>
              <a:t> ưu batch input cho quá trình training.</a:t>
            </a:r>
          </a:p>
        </p:txBody>
      </p:sp>
      <p:sp>
        <p:nvSpPr>
          <p:cNvPr name="TextBox 8" id="8"/>
          <p:cNvSpPr txBox="true"/>
          <p:nvPr/>
        </p:nvSpPr>
        <p:spPr>
          <a:xfrm rot="0">
            <a:off x="1028700" y="1020190"/>
            <a:ext cx="16230600" cy="1029726"/>
          </a:xfrm>
          <a:prstGeom prst="rect">
            <a:avLst/>
          </a:prstGeom>
        </p:spPr>
        <p:txBody>
          <a:bodyPr anchor="t" rtlCol="false" tIns="0" lIns="0" bIns="0" rIns="0">
            <a:spAutoFit/>
          </a:bodyPr>
          <a:lstStyle/>
          <a:p>
            <a:pPr algn="ctr">
              <a:lnSpc>
                <a:spcPts val="8343"/>
              </a:lnSpc>
            </a:pPr>
            <a:r>
              <a:rPr lang="en-US" b="true" sz="5959">
                <a:solidFill>
                  <a:srgbClr val="FEFEFE"/>
                </a:solidFill>
                <a:latin typeface="Roboto Bold"/>
                <a:ea typeface="Roboto Bold"/>
                <a:cs typeface="Roboto Bold"/>
                <a:sym typeface="Roboto Bold"/>
              </a:rPr>
              <a:t>XÂY DỰNG DATALOADER</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9318031" y="1490460"/>
            <a:ext cx="5687149" cy="7306081"/>
          </a:xfrm>
          <a:custGeom>
            <a:avLst/>
            <a:gdLst/>
            <a:ahLst/>
            <a:cxnLst/>
            <a:rect r="r" b="b" t="t" l="l"/>
            <a:pathLst>
              <a:path h="7306081" w="5687149">
                <a:moveTo>
                  <a:pt x="0" y="0"/>
                </a:moveTo>
                <a:lnTo>
                  <a:pt x="5687149" y="0"/>
                </a:lnTo>
                <a:lnTo>
                  <a:pt x="5687149" y="7306080"/>
                </a:lnTo>
                <a:lnTo>
                  <a:pt x="0" y="7306080"/>
                </a:lnTo>
                <a:lnTo>
                  <a:pt x="0" y="0"/>
                </a:lnTo>
                <a:close/>
              </a:path>
            </a:pathLst>
          </a:custGeom>
          <a:blipFill>
            <a:blip r:embed="rId5"/>
            <a:stretch>
              <a:fillRect l="0" t="-5064" r="0" b="-11697"/>
            </a:stretch>
          </a:blipFill>
        </p:spPr>
      </p:sp>
      <p:sp>
        <p:nvSpPr>
          <p:cNvPr name="TextBox 4" id="4"/>
          <p:cNvSpPr txBox="true"/>
          <p:nvPr/>
        </p:nvSpPr>
        <p:spPr>
          <a:xfrm rot="0">
            <a:off x="1977297" y="4113774"/>
            <a:ext cx="6246845" cy="1029726"/>
          </a:xfrm>
          <a:prstGeom prst="rect">
            <a:avLst/>
          </a:prstGeom>
        </p:spPr>
        <p:txBody>
          <a:bodyPr anchor="t" rtlCol="false" tIns="0" lIns="0" bIns="0" rIns="0">
            <a:spAutoFit/>
          </a:bodyPr>
          <a:lstStyle/>
          <a:p>
            <a:pPr algn="ctr">
              <a:lnSpc>
                <a:spcPts val="8343"/>
              </a:lnSpc>
            </a:pPr>
            <a:r>
              <a:rPr lang="en-US" b="true" sz="5959">
                <a:solidFill>
                  <a:srgbClr val="FEFEFE"/>
                </a:solidFill>
                <a:latin typeface="Roboto Bold"/>
                <a:ea typeface="Roboto Bold"/>
                <a:cs typeface="Roboto Bold"/>
                <a:sym typeface="Roboto Bold"/>
              </a:rPr>
              <a:t>HUẤN LUYỆN </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C2F1"/>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451676" y="3851879"/>
            <a:ext cx="16489666" cy="1065503"/>
          </a:xfrm>
          <a:prstGeom prst="rect">
            <a:avLst/>
          </a:prstGeom>
        </p:spPr>
        <p:txBody>
          <a:bodyPr anchor="t" rtlCol="false" tIns="0" lIns="0" bIns="0" rIns="0">
            <a:spAutoFit/>
          </a:bodyPr>
          <a:lstStyle/>
          <a:p>
            <a:pPr algn="ctr">
              <a:lnSpc>
                <a:spcPts val="8376"/>
              </a:lnSpc>
            </a:pPr>
            <a:r>
              <a:rPr lang="en-US" b="true" sz="7159">
                <a:solidFill>
                  <a:srgbClr val="FEFEFE"/>
                </a:solidFill>
                <a:latin typeface="Roboto Bold"/>
                <a:ea typeface="Roboto Bold"/>
                <a:cs typeface="Roboto Bold"/>
                <a:sym typeface="Roboto Bold"/>
              </a:rPr>
              <a:t>DEMO NHẬN DẠNG THỰC THỂ</a:t>
            </a:r>
          </a:p>
        </p:txBody>
      </p:sp>
      <p:sp>
        <p:nvSpPr>
          <p:cNvPr name="Freeform 11" id="11"/>
          <p:cNvSpPr/>
          <p:nvPr/>
        </p:nvSpPr>
        <p:spPr>
          <a:xfrm flipH="false" flipV="false" rot="0">
            <a:off x="1183014" y="3832829"/>
            <a:ext cx="1483489" cy="458533"/>
          </a:xfrm>
          <a:custGeom>
            <a:avLst/>
            <a:gdLst/>
            <a:ahLst/>
            <a:cxnLst/>
            <a:rect r="r" b="b" t="t" l="l"/>
            <a:pathLst>
              <a:path h="458533" w="1483489">
                <a:moveTo>
                  <a:pt x="0" y="0"/>
                </a:moveTo>
                <a:lnTo>
                  <a:pt x="1483490" y="0"/>
                </a:lnTo>
                <a:lnTo>
                  <a:pt x="1483490" y="458533"/>
                </a:lnTo>
                <a:lnTo>
                  <a:pt x="0" y="4585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028700" y="-252231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7843805" y="893148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name="Picture 3" id="3">
            <a:hlinkClick action="ppaction://media"/>
          </p:cNvPr>
          <p:cNvPicPr>
            <a:picLocks noChangeAspect="true"/>
          </p:cNvPicPr>
          <p:nvPr>
            <a:videoFile r:link="rId6"/>
            <p:extLst>
              <p:ext uri="{DAA4B4D4-6D71-4841-9C94-3DE7FCFB9230}">
                <p14:media xmlns:p14="http://schemas.microsoft.com/office/powerpoint/2010/main" r:embed="rId7"/>
              </p:ext>
            </p:extLst>
          </p:nvPr>
        </p:nvPicPr>
        <p:blipFill>
          <a:blip r:embed="rId5"/>
          <a:srcRect l="108" t="13172" r="17161" b="4096"/>
          <a:stretch>
            <a:fillRect/>
          </a:stretch>
        </p:blipFill>
        <p:spPr>
          <a:xfrm flipH="false" flipV="false" rot="0">
            <a:off x="0" y="0"/>
            <a:ext cx="18288000" cy="10287000"/>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3"/>
                </p:tgtEl>
              </p:cMediaNode>
            </p:video>
          </p:childTnLst>
        </p:cTn>
      </p:par>
    </p:tnLst>
  </p:timing>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C2F1"/>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451676" y="3851879"/>
            <a:ext cx="16489666" cy="1065503"/>
          </a:xfrm>
          <a:prstGeom prst="rect">
            <a:avLst/>
          </a:prstGeom>
        </p:spPr>
        <p:txBody>
          <a:bodyPr anchor="t" rtlCol="false" tIns="0" lIns="0" bIns="0" rIns="0">
            <a:spAutoFit/>
          </a:bodyPr>
          <a:lstStyle/>
          <a:p>
            <a:pPr algn="ctr">
              <a:lnSpc>
                <a:spcPts val="8376"/>
              </a:lnSpc>
            </a:pPr>
            <a:r>
              <a:rPr lang="en-US" b="true" sz="7159">
                <a:solidFill>
                  <a:srgbClr val="FEFEFE"/>
                </a:solidFill>
                <a:latin typeface="Roboto Bold"/>
                <a:ea typeface="Roboto Bold"/>
                <a:cs typeface="Roboto Bold"/>
                <a:sym typeface="Roboto Bold"/>
              </a:rPr>
              <a:t>ĐÁNH GIÁ KẾT QUẢ</a:t>
            </a:r>
          </a:p>
        </p:txBody>
      </p:sp>
      <p:sp>
        <p:nvSpPr>
          <p:cNvPr name="Freeform 11" id="11"/>
          <p:cNvSpPr/>
          <p:nvPr/>
        </p:nvSpPr>
        <p:spPr>
          <a:xfrm flipH="false" flipV="false" rot="0">
            <a:off x="1183014" y="3832829"/>
            <a:ext cx="1483489" cy="458533"/>
          </a:xfrm>
          <a:custGeom>
            <a:avLst/>
            <a:gdLst/>
            <a:ahLst/>
            <a:cxnLst/>
            <a:rect r="r" b="b" t="t" l="l"/>
            <a:pathLst>
              <a:path h="458533" w="1483489">
                <a:moveTo>
                  <a:pt x="0" y="0"/>
                </a:moveTo>
                <a:lnTo>
                  <a:pt x="1483490" y="0"/>
                </a:lnTo>
                <a:lnTo>
                  <a:pt x="1483490" y="458533"/>
                </a:lnTo>
                <a:lnTo>
                  <a:pt x="0" y="4585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028700" y="-252231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7843805" y="893148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3" id="3"/>
          <p:cNvGraphicFramePr>
            <a:graphicFrameLocks noGrp="true"/>
          </p:cNvGraphicFramePr>
          <p:nvPr/>
        </p:nvGraphicFramePr>
        <p:xfrm>
          <a:off x="1266260" y="2146517"/>
          <a:ext cx="6584213" cy="6946331"/>
        </p:xfrm>
        <a:graphic>
          <a:graphicData uri="http://schemas.openxmlformats.org/drawingml/2006/table">
            <a:tbl>
              <a:tblPr/>
              <a:tblGrid>
                <a:gridCol w="3745963"/>
                <a:gridCol w="2838250"/>
              </a:tblGrid>
              <a:tr h="1733205">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Chỉ số đánh giá </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gradFill rotWithShape="true">
                      <a:gsLst>
                        <a:gs pos="0">
                          <a:srgbClr val="FFF7AD">
                            <a:alpha val="100000"/>
                          </a:srgbClr>
                        </a:gs>
                        <a:gs pos="100000">
                          <a:srgbClr val="FFA9F9">
                            <a:alpha val="100000"/>
                          </a:srgbClr>
                        </a:gs>
                      </a:gsLst>
                      <a:lin ang="0"/>
                    </a:gra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Giá trị</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gradFill rotWithShape="true">
                      <a:gsLst>
                        <a:gs pos="0">
                          <a:srgbClr val="FFF7AD">
                            <a:alpha val="100000"/>
                          </a:srgbClr>
                        </a:gs>
                        <a:gs pos="100000">
                          <a:srgbClr val="FFA9F9">
                            <a:alpha val="100000"/>
                          </a:srgbClr>
                        </a:gs>
                      </a:gsLst>
                      <a:lin ang="0"/>
                    </a:gradFill>
                  </a:tcPr>
                </a:tc>
              </a:tr>
              <a:tr h="1303282">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Test loss </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0.06</a:t>
                      </a:r>
                      <a:r>
                        <a:rPr lang="en-US" sz="3399" b="true">
                          <a:solidFill>
                            <a:srgbClr val="000000"/>
                          </a:solidFill>
                          <a:latin typeface="Open Sans Bold"/>
                          <a:ea typeface="Open Sans Bold"/>
                          <a:cs typeface="Open Sans Bold"/>
                          <a:sym typeface="Open Sans Bold"/>
                        </a:rPr>
                        <a:t>50</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r>
              <a:tr h="1303282">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Pr</a:t>
                      </a:r>
                      <a:r>
                        <a:rPr lang="en-US" sz="3399" b="true">
                          <a:solidFill>
                            <a:srgbClr val="000000"/>
                          </a:solidFill>
                          <a:latin typeface="Open Sans Bold"/>
                          <a:ea typeface="Open Sans Bold"/>
                          <a:cs typeface="Open Sans Bold"/>
                          <a:sym typeface="Open Sans Bold"/>
                        </a:rPr>
                        <a:t>edicision </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0.9435</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r>
              <a:tr h="1303282">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R</a:t>
                      </a:r>
                      <a:r>
                        <a:rPr lang="en-US" sz="3399" b="true">
                          <a:solidFill>
                            <a:srgbClr val="000000"/>
                          </a:solidFill>
                          <a:latin typeface="Open Sans Bold"/>
                          <a:ea typeface="Open Sans Bold"/>
                          <a:cs typeface="Open Sans Bold"/>
                          <a:sym typeface="Open Sans Bold"/>
                        </a:rPr>
                        <a:t>ecall </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0.9603</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r>
              <a:tr h="1303282">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F1-score </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0.9519</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r>
            </a:tbl>
          </a:graphicData>
        </a:graphic>
      </p:graphicFrame>
      <p:sp>
        <p:nvSpPr>
          <p:cNvPr name="TextBox 4" id="4"/>
          <p:cNvSpPr txBox="true"/>
          <p:nvPr/>
        </p:nvSpPr>
        <p:spPr>
          <a:xfrm rot="0">
            <a:off x="-3556934" y="1108426"/>
            <a:ext cx="16230600" cy="680475"/>
          </a:xfrm>
          <a:prstGeom prst="rect">
            <a:avLst/>
          </a:prstGeom>
        </p:spPr>
        <p:txBody>
          <a:bodyPr anchor="t" rtlCol="false" tIns="0" lIns="0" bIns="0" rIns="0">
            <a:spAutoFit/>
          </a:bodyPr>
          <a:lstStyle/>
          <a:p>
            <a:pPr algn="ctr">
              <a:lnSpc>
                <a:spcPts val="5543"/>
              </a:lnSpc>
            </a:pPr>
            <a:r>
              <a:rPr lang="en-US" sz="3959" b="true">
                <a:solidFill>
                  <a:srgbClr val="FEFEFE"/>
                </a:solidFill>
                <a:latin typeface="Roboto Bold"/>
                <a:ea typeface="Roboto Bold"/>
                <a:cs typeface="Roboto Bold"/>
                <a:sym typeface="Roboto Bold"/>
              </a:rPr>
              <a:t>Kết quả đánh giá trên tập Dev</a:t>
            </a:r>
          </a:p>
        </p:txBody>
      </p:sp>
      <p:graphicFrame>
        <p:nvGraphicFramePr>
          <p:cNvPr name="Table 5" id="5"/>
          <p:cNvGraphicFramePr>
            <a:graphicFrameLocks noGrp="true"/>
          </p:cNvGraphicFramePr>
          <p:nvPr/>
        </p:nvGraphicFramePr>
        <p:xfrm>
          <a:off x="10281079" y="2146191"/>
          <a:ext cx="6707482" cy="6946658"/>
        </p:xfrm>
        <a:graphic>
          <a:graphicData uri="http://schemas.openxmlformats.org/drawingml/2006/table">
            <a:tbl>
              <a:tblPr/>
              <a:tblGrid>
                <a:gridCol w="3942372"/>
                <a:gridCol w="2765110"/>
              </a:tblGrid>
              <a:tr h="1564415">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Chỉ số đánh giá </a:t>
                      </a:r>
                      <a:endParaRPr lang="en-US" sz="1100"/>
                    </a:p>
                  </a:txBody>
                  <a:tcPr marL="115728" marR="115728" marT="115728" marB="115728" anchor="ctr">
                    <a:lnL cmpd="sng" algn="ctr" cap="flat" w="23146">
                      <a:solidFill>
                        <a:srgbClr val="FF9999"/>
                      </a:solidFill>
                      <a:prstDash val="solid"/>
                      <a:round/>
                      <a:headEnd type="none" w="med" len="med"/>
                      <a:tailEnd type="none" w="med" len="med"/>
                    </a:lnL>
                    <a:lnR cmpd="sng" algn="ctr" cap="flat" w="23146">
                      <a:solidFill>
                        <a:srgbClr val="FF9999"/>
                      </a:solidFill>
                      <a:prstDash val="solid"/>
                      <a:round/>
                      <a:headEnd type="none" w="med" len="med"/>
                      <a:tailEnd type="none" w="med" len="med"/>
                    </a:lnR>
                    <a:lnT cmpd="sng" algn="ctr" cap="flat" w="23146">
                      <a:solidFill>
                        <a:srgbClr val="FF9999"/>
                      </a:solidFill>
                      <a:prstDash val="solid"/>
                      <a:round/>
                      <a:headEnd type="none" w="med" len="med"/>
                      <a:tailEnd type="none" w="med" len="med"/>
                    </a:lnT>
                    <a:lnB cmpd="sng" algn="ctr" cap="flat" w="23146">
                      <a:solidFill>
                        <a:srgbClr val="FF9999"/>
                      </a:solidFill>
                      <a:prstDash val="solid"/>
                      <a:round/>
                      <a:headEnd type="none" w="med" len="med"/>
                      <a:tailEnd type="none" w="med" len="med"/>
                    </a:lnB>
                    <a:gradFill rotWithShape="true">
                      <a:gsLst>
                        <a:gs pos="0">
                          <a:srgbClr val="FFF7AD">
                            <a:alpha val="100000"/>
                          </a:srgbClr>
                        </a:gs>
                        <a:gs pos="100000">
                          <a:srgbClr val="FFA9F9">
                            <a:alpha val="100000"/>
                          </a:srgbClr>
                        </a:gs>
                      </a:gsLst>
                      <a:lin ang="0"/>
                    </a:gra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Giá trị</a:t>
                      </a:r>
                      <a:endParaRPr lang="en-US" sz="1100"/>
                    </a:p>
                  </a:txBody>
                  <a:tcPr marL="115728" marR="115728" marT="115728" marB="115728" anchor="ctr">
                    <a:lnL cmpd="sng" algn="ctr" cap="flat" w="23146">
                      <a:solidFill>
                        <a:srgbClr val="FF9999"/>
                      </a:solidFill>
                      <a:prstDash val="solid"/>
                      <a:round/>
                      <a:headEnd type="none" w="med" len="med"/>
                      <a:tailEnd type="none" w="med" len="med"/>
                    </a:lnL>
                    <a:lnR cmpd="sng" algn="ctr" cap="flat" w="23146">
                      <a:solidFill>
                        <a:srgbClr val="FF9999"/>
                      </a:solidFill>
                      <a:prstDash val="solid"/>
                      <a:round/>
                      <a:headEnd type="none" w="med" len="med"/>
                      <a:tailEnd type="none" w="med" len="med"/>
                    </a:lnR>
                    <a:lnT cmpd="sng" algn="ctr" cap="flat" w="23146">
                      <a:solidFill>
                        <a:srgbClr val="FF9999"/>
                      </a:solidFill>
                      <a:prstDash val="solid"/>
                      <a:round/>
                      <a:headEnd type="none" w="med" len="med"/>
                      <a:tailEnd type="none" w="med" len="med"/>
                    </a:lnT>
                    <a:lnB cmpd="sng" algn="ctr" cap="flat" w="23146">
                      <a:solidFill>
                        <a:srgbClr val="FF9999"/>
                      </a:solidFill>
                      <a:prstDash val="solid"/>
                      <a:round/>
                      <a:headEnd type="none" w="med" len="med"/>
                      <a:tailEnd type="none" w="med" len="med"/>
                    </a:lnB>
                    <a:gradFill rotWithShape="true">
                      <a:gsLst>
                        <a:gs pos="0">
                          <a:srgbClr val="FFF7AD">
                            <a:alpha val="100000"/>
                          </a:srgbClr>
                        </a:gs>
                        <a:gs pos="100000">
                          <a:srgbClr val="FFA9F9">
                            <a:alpha val="100000"/>
                          </a:srgbClr>
                        </a:gs>
                      </a:gsLst>
                      <a:lin ang="0"/>
                    </a:gradFill>
                  </a:tcPr>
                </a:tc>
              </a:tr>
              <a:tr h="1345561">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Test loss </a:t>
                      </a:r>
                      <a:endParaRPr lang="en-US" sz="1100"/>
                    </a:p>
                  </a:txBody>
                  <a:tcPr marL="115728" marR="115728" marT="115728" marB="115728" anchor="ctr">
                    <a:lnL cmpd="sng" algn="ctr" cap="flat" w="23146">
                      <a:solidFill>
                        <a:srgbClr val="FF9999"/>
                      </a:solidFill>
                      <a:prstDash val="solid"/>
                      <a:round/>
                      <a:headEnd type="none" w="med" len="med"/>
                      <a:tailEnd type="none" w="med" len="med"/>
                    </a:lnL>
                    <a:lnR cmpd="sng" algn="ctr" cap="flat" w="23146">
                      <a:solidFill>
                        <a:srgbClr val="FF9999"/>
                      </a:solidFill>
                      <a:prstDash val="solid"/>
                      <a:round/>
                      <a:headEnd type="none" w="med" len="med"/>
                      <a:tailEnd type="none" w="med" len="med"/>
                    </a:lnR>
                    <a:lnT cmpd="sng" algn="ctr" cap="flat" w="23146">
                      <a:solidFill>
                        <a:srgbClr val="FF9999"/>
                      </a:solidFill>
                      <a:prstDash val="solid"/>
                      <a:round/>
                      <a:headEnd type="none" w="med" len="med"/>
                      <a:tailEnd type="none" w="med" len="med"/>
                    </a:lnT>
                    <a:lnB cmpd="sng" algn="ctr" cap="flat" w="23146">
                      <a:solidFill>
                        <a:srgbClr val="FF9999"/>
                      </a:solidFill>
                      <a:prstDash val="solid"/>
                      <a:round/>
                      <a:headEnd type="none" w="med" len="med"/>
                      <a:tailEnd type="none" w="med" len="med"/>
                    </a:lnB>
                    <a:solidFill>
                      <a:srgbClr val="FFFFFF"/>
                    </a:soli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0.07</a:t>
                      </a:r>
                      <a:r>
                        <a:rPr lang="en-US" sz="3399" b="true">
                          <a:solidFill>
                            <a:srgbClr val="000000"/>
                          </a:solidFill>
                          <a:latin typeface="Open Sans Bold"/>
                          <a:ea typeface="Open Sans Bold"/>
                          <a:cs typeface="Open Sans Bold"/>
                          <a:sym typeface="Open Sans Bold"/>
                        </a:rPr>
                        <a:t>55</a:t>
                      </a:r>
                      <a:endParaRPr lang="en-US" sz="1100"/>
                    </a:p>
                  </a:txBody>
                  <a:tcPr marL="115728" marR="115728" marT="115728" marB="115728" anchor="ctr">
                    <a:lnL cmpd="sng" algn="ctr" cap="flat" w="23146">
                      <a:solidFill>
                        <a:srgbClr val="FF9999"/>
                      </a:solidFill>
                      <a:prstDash val="solid"/>
                      <a:round/>
                      <a:headEnd type="none" w="med" len="med"/>
                      <a:tailEnd type="none" w="med" len="med"/>
                    </a:lnL>
                    <a:lnR cmpd="sng" algn="ctr" cap="flat" w="23146">
                      <a:solidFill>
                        <a:srgbClr val="FF9999"/>
                      </a:solidFill>
                      <a:prstDash val="solid"/>
                      <a:round/>
                      <a:headEnd type="none" w="med" len="med"/>
                      <a:tailEnd type="none" w="med" len="med"/>
                    </a:lnR>
                    <a:lnT cmpd="sng" algn="ctr" cap="flat" w="23146">
                      <a:solidFill>
                        <a:srgbClr val="FF9999"/>
                      </a:solidFill>
                      <a:prstDash val="solid"/>
                      <a:round/>
                      <a:headEnd type="none" w="med" len="med"/>
                      <a:tailEnd type="none" w="med" len="med"/>
                    </a:lnT>
                    <a:lnB cmpd="sng" algn="ctr" cap="flat" w="23146">
                      <a:solidFill>
                        <a:srgbClr val="FF9999"/>
                      </a:solidFill>
                      <a:prstDash val="solid"/>
                      <a:round/>
                      <a:headEnd type="none" w="med" len="med"/>
                      <a:tailEnd type="none" w="med" len="med"/>
                    </a:lnB>
                    <a:solidFill>
                      <a:srgbClr val="FFFFFF"/>
                    </a:solidFill>
                  </a:tcPr>
                </a:tc>
              </a:tr>
              <a:tr h="1345561">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Pr</a:t>
                      </a:r>
                      <a:r>
                        <a:rPr lang="en-US" sz="3399" b="true">
                          <a:solidFill>
                            <a:srgbClr val="000000"/>
                          </a:solidFill>
                          <a:latin typeface="Open Sans Bold"/>
                          <a:ea typeface="Open Sans Bold"/>
                          <a:cs typeface="Open Sans Bold"/>
                          <a:sym typeface="Open Sans Bold"/>
                        </a:rPr>
                        <a:t>edicision </a:t>
                      </a:r>
                      <a:endParaRPr lang="en-US" sz="1100"/>
                    </a:p>
                  </a:txBody>
                  <a:tcPr marL="115728" marR="115728" marT="115728" marB="115728" anchor="ctr">
                    <a:lnL cmpd="sng" algn="ctr" cap="flat" w="23146">
                      <a:solidFill>
                        <a:srgbClr val="FF9999"/>
                      </a:solidFill>
                      <a:prstDash val="solid"/>
                      <a:round/>
                      <a:headEnd type="none" w="med" len="med"/>
                      <a:tailEnd type="none" w="med" len="med"/>
                    </a:lnL>
                    <a:lnR cmpd="sng" algn="ctr" cap="flat" w="23146">
                      <a:solidFill>
                        <a:srgbClr val="FF9999"/>
                      </a:solidFill>
                      <a:prstDash val="solid"/>
                      <a:round/>
                      <a:headEnd type="none" w="med" len="med"/>
                      <a:tailEnd type="none" w="med" len="med"/>
                    </a:lnR>
                    <a:lnT cmpd="sng" algn="ctr" cap="flat" w="23146">
                      <a:solidFill>
                        <a:srgbClr val="FF9999"/>
                      </a:solidFill>
                      <a:prstDash val="solid"/>
                      <a:round/>
                      <a:headEnd type="none" w="med" len="med"/>
                      <a:tailEnd type="none" w="med" len="med"/>
                    </a:lnT>
                    <a:lnB cmpd="sng" algn="ctr" cap="flat" w="23146">
                      <a:solidFill>
                        <a:srgbClr val="FF9999"/>
                      </a:solidFill>
                      <a:prstDash val="solid"/>
                      <a:round/>
                      <a:headEnd type="none" w="med" len="med"/>
                      <a:tailEnd type="none" w="med" len="med"/>
                    </a:lnB>
                    <a:solidFill>
                      <a:srgbClr val="FFFFFF"/>
                    </a:soli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0.9326</a:t>
                      </a:r>
                      <a:endParaRPr lang="en-US" sz="1100"/>
                    </a:p>
                  </a:txBody>
                  <a:tcPr marL="115728" marR="115728" marT="115728" marB="115728" anchor="ctr">
                    <a:lnL cmpd="sng" algn="ctr" cap="flat" w="23146">
                      <a:solidFill>
                        <a:srgbClr val="FF9999"/>
                      </a:solidFill>
                      <a:prstDash val="solid"/>
                      <a:round/>
                      <a:headEnd type="none" w="med" len="med"/>
                      <a:tailEnd type="none" w="med" len="med"/>
                    </a:lnL>
                    <a:lnR cmpd="sng" algn="ctr" cap="flat" w="23146">
                      <a:solidFill>
                        <a:srgbClr val="FF9999"/>
                      </a:solidFill>
                      <a:prstDash val="solid"/>
                      <a:round/>
                      <a:headEnd type="none" w="med" len="med"/>
                      <a:tailEnd type="none" w="med" len="med"/>
                    </a:lnR>
                    <a:lnT cmpd="sng" algn="ctr" cap="flat" w="23146">
                      <a:solidFill>
                        <a:srgbClr val="FF9999"/>
                      </a:solidFill>
                      <a:prstDash val="solid"/>
                      <a:round/>
                      <a:headEnd type="none" w="med" len="med"/>
                      <a:tailEnd type="none" w="med" len="med"/>
                    </a:lnT>
                    <a:lnB cmpd="sng" algn="ctr" cap="flat" w="23146">
                      <a:solidFill>
                        <a:srgbClr val="FF9999"/>
                      </a:solidFill>
                      <a:prstDash val="solid"/>
                      <a:round/>
                      <a:headEnd type="none" w="med" len="med"/>
                      <a:tailEnd type="none" w="med" len="med"/>
                    </a:lnB>
                    <a:solidFill>
                      <a:srgbClr val="FFFFFF"/>
                    </a:solidFill>
                  </a:tcPr>
                </a:tc>
              </a:tr>
              <a:tr h="1345561">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R</a:t>
                      </a:r>
                      <a:r>
                        <a:rPr lang="en-US" sz="3399" b="true">
                          <a:solidFill>
                            <a:srgbClr val="000000"/>
                          </a:solidFill>
                          <a:latin typeface="Open Sans Bold"/>
                          <a:ea typeface="Open Sans Bold"/>
                          <a:cs typeface="Open Sans Bold"/>
                          <a:sym typeface="Open Sans Bold"/>
                        </a:rPr>
                        <a:t>ecall </a:t>
                      </a:r>
                      <a:endParaRPr lang="en-US" sz="1100"/>
                    </a:p>
                  </a:txBody>
                  <a:tcPr marL="115728" marR="115728" marT="115728" marB="115728" anchor="ctr">
                    <a:lnL cmpd="sng" algn="ctr" cap="flat" w="23146">
                      <a:solidFill>
                        <a:srgbClr val="FF9999"/>
                      </a:solidFill>
                      <a:prstDash val="solid"/>
                      <a:round/>
                      <a:headEnd type="none" w="med" len="med"/>
                      <a:tailEnd type="none" w="med" len="med"/>
                    </a:lnL>
                    <a:lnR cmpd="sng" algn="ctr" cap="flat" w="23146">
                      <a:solidFill>
                        <a:srgbClr val="FF9999"/>
                      </a:solidFill>
                      <a:prstDash val="solid"/>
                      <a:round/>
                      <a:headEnd type="none" w="med" len="med"/>
                      <a:tailEnd type="none" w="med" len="med"/>
                    </a:lnR>
                    <a:lnT cmpd="sng" algn="ctr" cap="flat" w="23146">
                      <a:solidFill>
                        <a:srgbClr val="FF9999"/>
                      </a:solidFill>
                      <a:prstDash val="solid"/>
                      <a:round/>
                      <a:headEnd type="none" w="med" len="med"/>
                      <a:tailEnd type="none" w="med" len="med"/>
                    </a:lnT>
                    <a:lnB cmpd="sng" algn="ctr" cap="flat" w="23146">
                      <a:solidFill>
                        <a:srgbClr val="FF9999"/>
                      </a:solidFill>
                      <a:prstDash val="solid"/>
                      <a:round/>
                      <a:headEnd type="none" w="med" len="med"/>
                      <a:tailEnd type="none" w="med" len="med"/>
                    </a:lnB>
                    <a:solidFill>
                      <a:srgbClr val="FFFFFF"/>
                    </a:soli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0.9501</a:t>
                      </a:r>
                      <a:endParaRPr lang="en-US" sz="1100"/>
                    </a:p>
                  </a:txBody>
                  <a:tcPr marL="115728" marR="115728" marT="115728" marB="115728" anchor="ctr">
                    <a:lnL cmpd="sng" algn="ctr" cap="flat" w="23146">
                      <a:solidFill>
                        <a:srgbClr val="FF9999"/>
                      </a:solidFill>
                      <a:prstDash val="solid"/>
                      <a:round/>
                      <a:headEnd type="none" w="med" len="med"/>
                      <a:tailEnd type="none" w="med" len="med"/>
                    </a:lnL>
                    <a:lnR cmpd="sng" algn="ctr" cap="flat" w="23146">
                      <a:solidFill>
                        <a:srgbClr val="FF9999"/>
                      </a:solidFill>
                      <a:prstDash val="solid"/>
                      <a:round/>
                      <a:headEnd type="none" w="med" len="med"/>
                      <a:tailEnd type="none" w="med" len="med"/>
                    </a:lnR>
                    <a:lnT cmpd="sng" algn="ctr" cap="flat" w="23146">
                      <a:solidFill>
                        <a:srgbClr val="FF9999"/>
                      </a:solidFill>
                      <a:prstDash val="solid"/>
                      <a:round/>
                      <a:headEnd type="none" w="med" len="med"/>
                      <a:tailEnd type="none" w="med" len="med"/>
                    </a:lnT>
                    <a:lnB cmpd="sng" algn="ctr" cap="flat" w="23146">
                      <a:solidFill>
                        <a:srgbClr val="FF9999"/>
                      </a:solidFill>
                      <a:prstDash val="solid"/>
                      <a:round/>
                      <a:headEnd type="none" w="med" len="med"/>
                      <a:tailEnd type="none" w="med" len="med"/>
                    </a:lnB>
                    <a:solidFill>
                      <a:srgbClr val="FFFFFF"/>
                    </a:solidFill>
                  </a:tcPr>
                </a:tc>
              </a:tr>
              <a:tr h="1345561">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F1-score </a:t>
                      </a:r>
                      <a:endParaRPr lang="en-US" sz="1100"/>
                    </a:p>
                  </a:txBody>
                  <a:tcPr marL="115728" marR="115728" marT="115728" marB="115728" anchor="ctr">
                    <a:lnL cmpd="sng" algn="ctr" cap="flat" w="23146">
                      <a:solidFill>
                        <a:srgbClr val="FF9999"/>
                      </a:solidFill>
                      <a:prstDash val="solid"/>
                      <a:round/>
                      <a:headEnd type="none" w="med" len="med"/>
                      <a:tailEnd type="none" w="med" len="med"/>
                    </a:lnL>
                    <a:lnR cmpd="sng" algn="ctr" cap="flat" w="23146">
                      <a:solidFill>
                        <a:srgbClr val="FF9999"/>
                      </a:solidFill>
                      <a:prstDash val="solid"/>
                      <a:round/>
                      <a:headEnd type="none" w="med" len="med"/>
                      <a:tailEnd type="none" w="med" len="med"/>
                    </a:lnR>
                    <a:lnT cmpd="sng" algn="ctr" cap="flat" w="23146">
                      <a:solidFill>
                        <a:srgbClr val="FF9999"/>
                      </a:solidFill>
                      <a:prstDash val="solid"/>
                      <a:round/>
                      <a:headEnd type="none" w="med" len="med"/>
                      <a:tailEnd type="none" w="med" len="med"/>
                    </a:lnT>
                    <a:lnB cmpd="sng" algn="ctr" cap="flat" w="23146">
                      <a:solidFill>
                        <a:srgbClr val="FF9999"/>
                      </a:solidFill>
                      <a:prstDash val="solid"/>
                      <a:round/>
                      <a:headEnd type="none" w="med" len="med"/>
                      <a:tailEnd type="none" w="med" len="med"/>
                    </a:lnB>
                    <a:solidFill>
                      <a:srgbClr val="FFFFFF"/>
                    </a:soli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0.9413</a:t>
                      </a:r>
                      <a:endParaRPr lang="en-US" sz="1100"/>
                    </a:p>
                  </a:txBody>
                  <a:tcPr marL="115728" marR="115728" marT="115728" marB="115728" anchor="ctr">
                    <a:lnL cmpd="sng" algn="ctr" cap="flat" w="23146">
                      <a:solidFill>
                        <a:srgbClr val="FF9999"/>
                      </a:solidFill>
                      <a:prstDash val="solid"/>
                      <a:round/>
                      <a:headEnd type="none" w="med" len="med"/>
                      <a:tailEnd type="none" w="med" len="med"/>
                    </a:lnL>
                    <a:lnR cmpd="sng" algn="ctr" cap="flat" w="23146">
                      <a:solidFill>
                        <a:srgbClr val="FF9999"/>
                      </a:solidFill>
                      <a:prstDash val="solid"/>
                      <a:round/>
                      <a:headEnd type="none" w="med" len="med"/>
                      <a:tailEnd type="none" w="med" len="med"/>
                    </a:lnR>
                    <a:lnT cmpd="sng" algn="ctr" cap="flat" w="23146">
                      <a:solidFill>
                        <a:srgbClr val="FF9999"/>
                      </a:solidFill>
                      <a:prstDash val="solid"/>
                      <a:round/>
                      <a:headEnd type="none" w="med" len="med"/>
                      <a:tailEnd type="none" w="med" len="med"/>
                    </a:lnT>
                    <a:lnB cmpd="sng" algn="ctr" cap="flat" w="23146">
                      <a:solidFill>
                        <a:srgbClr val="FF9999"/>
                      </a:solidFill>
                      <a:prstDash val="solid"/>
                      <a:round/>
                      <a:headEnd type="none" w="med" len="med"/>
                      <a:tailEnd type="none" w="med" len="med"/>
                    </a:lnB>
                    <a:solidFill>
                      <a:srgbClr val="FFFFFF"/>
                    </a:solidFill>
                  </a:tcPr>
                </a:tc>
              </a:tr>
            </a:tbl>
          </a:graphicData>
        </a:graphic>
      </p:graphicFrame>
      <p:sp>
        <p:nvSpPr>
          <p:cNvPr name="TextBox 6" id="6"/>
          <p:cNvSpPr txBox="true"/>
          <p:nvPr/>
        </p:nvSpPr>
        <p:spPr>
          <a:xfrm rot="0">
            <a:off x="8427942" y="1108426"/>
            <a:ext cx="9860058" cy="680466"/>
          </a:xfrm>
          <a:prstGeom prst="rect">
            <a:avLst/>
          </a:prstGeom>
        </p:spPr>
        <p:txBody>
          <a:bodyPr anchor="t" rtlCol="false" tIns="0" lIns="0" bIns="0" rIns="0">
            <a:spAutoFit/>
          </a:bodyPr>
          <a:lstStyle/>
          <a:p>
            <a:pPr algn="ctr">
              <a:lnSpc>
                <a:spcPts val="5543"/>
              </a:lnSpc>
            </a:pPr>
            <a:r>
              <a:rPr lang="en-US" sz="3959" b="true">
                <a:solidFill>
                  <a:srgbClr val="FEFEFE"/>
                </a:solidFill>
                <a:latin typeface="Roboto Bold"/>
                <a:ea typeface="Roboto Bold"/>
                <a:cs typeface="Roboto Bold"/>
                <a:sym typeface="Roboto Bold"/>
              </a:rPr>
              <a:t>Kết quả đánh giá trên tập Test</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028700" y="497823"/>
            <a:ext cx="16230600" cy="930666"/>
          </a:xfrm>
          <a:prstGeom prst="rect">
            <a:avLst/>
          </a:prstGeom>
        </p:spPr>
        <p:txBody>
          <a:bodyPr anchor="t" rtlCol="false" tIns="0" lIns="0" bIns="0" rIns="0">
            <a:spAutoFit/>
          </a:bodyPr>
          <a:lstStyle/>
          <a:p>
            <a:pPr algn="ctr">
              <a:lnSpc>
                <a:spcPts val="7503"/>
              </a:lnSpc>
            </a:pPr>
            <a:r>
              <a:rPr lang="en-US" sz="5359" b="true">
                <a:solidFill>
                  <a:srgbClr val="FEFEFE"/>
                </a:solidFill>
                <a:latin typeface="Roboto Bold"/>
                <a:ea typeface="Roboto Bold"/>
                <a:cs typeface="Roboto Bold"/>
                <a:sym typeface="Roboto Bold"/>
              </a:rPr>
              <a:t>Kết quả đánh giá theo từng loại thực thể </a:t>
            </a:r>
          </a:p>
        </p:txBody>
      </p:sp>
      <p:pic>
        <p:nvPicPr>
          <p:cNvPr name="Picture 4" id="4"/>
          <p:cNvPicPr>
            <a:picLocks noChangeAspect="true"/>
          </p:cNvPicPr>
          <p:nvPr/>
        </p:nvPicPr>
        <p:blipFill>
          <a:blip r:embed="rId5"/>
          <a:stretch>
            <a:fillRect/>
          </a:stretch>
        </p:blipFill>
        <p:spPr>
          <a:xfrm rot="0">
            <a:off x="-889524" y="-77983"/>
            <a:ext cx="19798717" cy="11346089"/>
          </a:xfrm>
          <a:prstGeom prst="rect">
            <a:avLst/>
          </a:prstGeom>
        </p:spPr>
      </p:pic>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0" y="491773"/>
            <a:ext cx="16230600" cy="1029726"/>
          </a:xfrm>
          <a:prstGeom prst="rect">
            <a:avLst/>
          </a:prstGeom>
        </p:spPr>
        <p:txBody>
          <a:bodyPr anchor="t" rtlCol="false" tIns="0" lIns="0" bIns="0" rIns="0">
            <a:spAutoFit/>
          </a:bodyPr>
          <a:lstStyle/>
          <a:p>
            <a:pPr algn="ctr">
              <a:lnSpc>
                <a:spcPts val="8343"/>
              </a:lnSpc>
            </a:pPr>
            <a:r>
              <a:rPr lang="en-US" sz="5959" b="true">
                <a:solidFill>
                  <a:srgbClr val="FEFEFE"/>
                </a:solidFill>
                <a:latin typeface="Roboto Bold"/>
                <a:ea typeface="Roboto Bold"/>
                <a:cs typeface="Roboto Bold"/>
                <a:sym typeface="Roboto Bold"/>
              </a:rPr>
              <a:t>So sánh với mô hình RoBERTa</a:t>
            </a:r>
          </a:p>
        </p:txBody>
      </p:sp>
      <p:graphicFrame>
        <p:nvGraphicFramePr>
          <p:cNvPr name="Table 4" id="4"/>
          <p:cNvGraphicFramePr>
            <a:graphicFrameLocks noGrp="true"/>
          </p:cNvGraphicFramePr>
          <p:nvPr/>
        </p:nvGraphicFramePr>
        <p:xfrm>
          <a:off x="3108412" y="1912024"/>
          <a:ext cx="11749756" cy="5657850"/>
        </p:xfrm>
        <a:graphic>
          <a:graphicData uri="http://schemas.openxmlformats.org/drawingml/2006/table">
            <a:tbl>
              <a:tblPr/>
              <a:tblGrid>
                <a:gridCol w="4671194"/>
                <a:gridCol w="3539281"/>
                <a:gridCol w="3539281"/>
              </a:tblGrid>
              <a:tr h="1131570">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Chỉ số đánh giá </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gradFill rotWithShape="true">
                      <a:gsLst>
                        <a:gs pos="0">
                          <a:srgbClr val="FFF7AD">
                            <a:alpha val="100000"/>
                          </a:srgbClr>
                        </a:gs>
                        <a:gs pos="100000">
                          <a:srgbClr val="FFA9F9">
                            <a:alpha val="100000"/>
                          </a:srgbClr>
                        </a:gs>
                      </a:gsLst>
                      <a:lin ang="0"/>
                    </a:gra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PhoBert</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gradFill rotWithShape="true">
                      <a:gsLst>
                        <a:gs pos="0">
                          <a:srgbClr val="FFF7AD">
                            <a:alpha val="100000"/>
                          </a:srgbClr>
                        </a:gs>
                        <a:gs pos="100000">
                          <a:srgbClr val="FFA9F9">
                            <a:alpha val="100000"/>
                          </a:srgbClr>
                        </a:gs>
                      </a:gsLst>
                      <a:lin ang="0"/>
                    </a:gra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RoBerta</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gradFill rotWithShape="true">
                      <a:gsLst>
                        <a:gs pos="0">
                          <a:srgbClr val="FFF7AD">
                            <a:alpha val="100000"/>
                          </a:srgbClr>
                        </a:gs>
                        <a:gs pos="100000">
                          <a:srgbClr val="FFA9F9">
                            <a:alpha val="100000"/>
                          </a:srgbClr>
                        </a:gs>
                      </a:gsLst>
                      <a:lin ang="0"/>
                    </a:gradFill>
                  </a:tcPr>
                </a:tc>
              </a:tr>
              <a:tr h="1131570">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Test loss </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0.07</a:t>
                      </a:r>
                      <a:r>
                        <a:rPr lang="en-US" sz="3399" b="true">
                          <a:solidFill>
                            <a:srgbClr val="000000"/>
                          </a:solidFill>
                          <a:latin typeface="Open Sans Bold"/>
                          <a:ea typeface="Open Sans Bold"/>
                          <a:cs typeface="Open Sans Bold"/>
                          <a:sym typeface="Open Sans Bold"/>
                        </a:rPr>
                        <a:t>55</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0.1698</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r>
              <a:tr h="1131570">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Pr</a:t>
                      </a:r>
                      <a:r>
                        <a:rPr lang="en-US" sz="3399" b="true">
                          <a:solidFill>
                            <a:srgbClr val="000000"/>
                          </a:solidFill>
                          <a:latin typeface="Open Sans Bold"/>
                          <a:ea typeface="Open Sans Bold"/>
                          <a:cs typeface="Open Sans Bold"/>
                          <a:sym typeface="Open Sans Bold"/>
                        </a:rPr>
                        <a:t>edicision </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0.9326</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0.9153</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r>
              <a:tr h="1131570">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R</a:t>
                      </a:r>
                      <a:r>
                        <a:rPr lang="en-US" sz="3399" b="true">
                          <a:solidFill>
                            <a:srgbClr val="000000"/>
                          </a:solidFill>
                          <a:latin typeface="Open Sans Bold"/>
                          <a:ea typeface="Open Sans Bold"/>
                          <a:cs typeface="Open Sans Bold"/>
                          <a:sym typeface="Open Sans Bold"/>
                        </a:rPr>
                        <a:t>ecall </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0.9501</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0.9180</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r>
              <a:tr h="1131570">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F1-score </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0.9413</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c>
                  <a:txBody>
                    <a:bodyPr anchor="t" rtlCol="false"/>
                    <a:lstStyle/>
                    <a:p>
                      <a:pPr algn="ctr">
                        <a:lnSpc>
                          <a:spcPts val="4759"/>
                        </a:lnSpc>
                        <a:defRPr/>
                      </a:pPr>
                      <a:r>
                        <a:rPr lang="en-US" sz="3399" b="true">
                          <a:solidFill>
                            <a:srgbClr val="000000"/>
                          </a:solidFill>
                          <a:latin typeface="Open Sans Bold"/>
                          <a:ea typeface="Open Sans Bold"/>
                          <a:cs typeface="Open Sans Bold"/>
                          <a:sym typeface="Open Sans Bold"/>
                        </a:rPr>
                        <a:t>0.9167</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FFFF"/>
                    </a:solidFill>
                  </a:tcPr>
                </a:tc>
              </a:tr>
            </a:tbl>
          </a:graphicData>
        </a:graphic>
      </p:graphicFrame>
      <p:sp>
        <p:nvSpPr>
          <p:cNvPr name="Freeform 5" id="5"/>
          <p:cNvSpPr/>
          <p:nvPr/>
        </p:nvSpPr>
        <p:spPr>
          <a:xfrm flipH="false" flipV="false" rot="5400000">
            <a:off x="3073160" y="7995651"/>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3992116" y="7932303"/>
            <a:ext cx="13033254"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PhoBERT cho kết quả vượt trội hơn RoBERTa</a:t>
            </a:r>
          </a:p>
        </p:txBody>
      </p:sp>
      <p:sp>
        <p:nvSpPr>
          <p:cNvPr name="Freeform 7" id="7"/>
          <p:cNvSpPr/>
          <p:nvPr/>
        </p:nvSpPr>
        <p:spPr>
          <a:xfrm flipH="false" flipV="false" rot="5400000">
            <a:off x="3073160" y="8761329"/>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3992116" y="8697981"/>
            <a:ext cx="10959388"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Hiệu quả nhận dạng thực thể cao</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C2F1"/>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451676" y="4620274"/>
            <a:ext cx="16489666" cy="1065503"/>
          </a:xfrm>
          <a:prstGeom prst="rect">
            <a:avLst/>
          </a:prstGeom>
        </p:spPr>
        <p:txBody>
          <a:bodyPr anchor="t" rtlCol="false" tIns="0" lIns="0" bIns="0" rIns="0">
            <a:spAutoFit/>
          </a:bodyPr>
          <a:lstStyle/>
          <a:p>
            <a:pPr algn="ctr">
              <a:lnSpc>
                <a:spcPts val="8376"/>
              </a:lnSpc>
            </a:pPr>
            <a:r>
              <a:rPr lang="en-US" b="true" sz="7159">
                <a:solidFill>
                  <a:srgbClr val="FEFEFE"/>
                </a:solidFill>
                <a:latin typeface="Roboto Bold"/>
                <a:ea typeface="Roboto Bold"/>
                <a:cs typeface="Roboto Bold"/>
                <a:sym typeface="Roboto Bold"/>
              </a:rPr>
              <a:t>KẾT LUẬN VÀ HƯỚNG PHÁT TRIỂN </a:t>
            </a:r>
          </a:p>
        </p:txBody>
      </p:sp>
      <p:sp>
        <p:nvSpPr>
          <p:cNvPr name="Freeform 11" id="11"/>
          <p:cNvSpPr/>
          <p:nvPr/>
        </p:nvSpPr>
        <p:spPr>
          <a:xfrm flipH="false" flipV="false" rot="0">
            <a:off x="911368" y="3852552"/>
            <a:ext cx="1483489" cy="458533"/>
          </a:xfrm>
          <a:custGeom>
            <a:avLst/>
            <a:gdLst/>
            <a:ahLst/>
            <a:cxnLst/>
            <a:rect r="r" b="b" t="t" l="l"/>
            <a:pathLst>
              <a:path h="458533" w="1483489">
                <a:moveTo>
                  <a:pt x="0" y="0"/>
                </a:moveTo>
                <a:lnTo>
                  <a:pt x="1483489" y="0"/>
                </a:lnTo>
                <a:lnTo>
                  <a:pt x="1483489" y="458533"/>
                </a:lnTo>
                <a:lnTo>
                  <a:pt x="0" y="4585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028700" y="-252231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7843805" y="893148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799980" y="1184235"/>
            <a:ext cx="16230600" cy="1029726"/>
          </a:xfrm>
          <a:prstGeom prst="rect">
            <a:avLst/>
          </a:prstGeom>
        </p:spPr>
        <p:txBody>
          <a:bodyPr anchor="t" rtlCol="false" tIns="0" lIns="0" bIns="0" rIns="0">
            <a:spAutoFit/>
          </a:bodyPr>
          <a:lstStyle/>
          <a:p>
            <a:pPr algn="ctr">
              <a:lnSpc>
                <a:spcPts val="8343"/>
              </a:lnSpc>
            </a:pPr>
            <a:r>
              <a:rPr lang="en-US" sz="5959" b="true">
                <a:solidFill>
                  <a:srgbClr val="FEFEFE"/>
                </a:solidFill>
                <a:latin typeface="Roboto Bold"/>
                <a:ea typeface="Roboto Bold"/>
                <a:cs typeface="Roboto Bold"/>
                <a:sym typeface="Roboto Bold"/>
              </a:rPr>
              <a:t>Mục tiêu đạt được</a:t>
            </a:r>
          </a:p>
        </p:txBody>
      </p:sp>
      <p:sp>
        <p:nvSpPr>
          <p:cNvPr name="Freeform 4" id="4"/>
          <p:cNvSpPr/>
          <p:nvPr/>
        </p:nvSpPr>
        <p:spPr>
          <a:xfrm flipH="false" flipV="false" rot="5400000">
            <a:off x="1564709" y="3335604"/>
            <a:ext cx="625434" cy="554930"/>
          </a:xfrm>
          <a:custGeom>
            <a:avLst/>
            <a:gdLst/>
            <a:ahLst/>
            <a:cxnLst/>
            <a:rect r="r" b="b" t="t" l="l"/>
            <a:pathLst>
              <a:path h="554930" w="625434">
                <a:moveTo>
                  <a:pt x="0" y="0"/>
                </a:moveTo>
                <a:lnTo>
                  <a:pt x="625434" y="0"/>
                </a:lnTo>
                <a:lnTo>
                  <a:pt x="625434" y="554931"/>
                </a:lnTo>
                <a:lnTo>
                  <a:pt x="0" y="5549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2724321" y="3224153"/>
            <a:ext cx="13033254"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Tinh chỉnh và đánh giá mô hình PhoBERT cho NER tiếng Việt</a:t>
            </a:r>
          </a:p>
        </p:txBody>
      </p:sp>
      <p:sp>
        <p:nvSpPr>
          <p:cNvPr name="Freeform 6" id="6"/>
          <p:cNvSpPr/>
          <p:nvPr/>
        </p:nvSpPr>
        <p:spPr>
          <a:xfrm flipH="false" flipV="false" rot="5400000">
            <a:off x="1564709" y="4341938"/>
            <a:ext cx="625434" cy="554930"/>
          </a:xfrm>
          <a:custGeom>
            <a:avLst/>
            <a:gdLst/>
            <a:ahLst/>
            <a:cxnLst/>
            <a:rect r="r" b="b" t="t" l="l"/>
            <a:pathLst>
              <a:path h="554930" w="625434">
                <a:moveTo>
                  <a:pt x="0" y="0"/>
                </a:moveTo>
                <a:lnTo>
                  <a:pt x="625434" y="0"/>
                </a:lnTo>
                <a:lnTo>
                  <a:pt x="625434" y="554931"/>
                </a:lnTo>
                <a:lnTo>
                  <a:pt x="0" y="5549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724321" y="4230487"/>
            <a:ext cx="15563679"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So sánh và xác định hiệu suất của mô hình PhoBERT với mô hình RoBERTa </a:t>
            </a:r>
          </a:p>
        </p:txBody>
      </p:sp>
      <p:sp>
        <p:nvSpPr>
          <p:cNvPr name="Freeform 8" id="8"/>
          <p:cNvSpPr/>
          <p:nvPr/>
        </p:nvSpPr>
        <p:spPr>
          <a:xfrm flipH="false" flipV="false" rot="5400000">
            <a:off x="1564709" y="5348372"/>
            <a:ext cx="625434" cy="554930"/>
          </a:xfrm>
          <a:custGeom>
            <a:avLst/>
            <a:gdLst/>
            <a:ahLst/>
            <a:cxnLst/>
            <a:rect r="r" b="b" t="t" l="l"/>
            <a:pathLst>
              <a:path h="554930" w="625434">
                <a:moveTo>
                  <a:pt x="0" y="0"/>
                </a:moveTo>
                <a:lnTo>
                  <a:pt x="625434" y="0"/>
                </a:lnTo>
                <a:lnTo>
                  <a:pt x="625434" y="554931"/>
                </a:lnTo>
                <a:lnTo>
                  <a:pt x="0" y="5549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2724321" y="5236920"/>
            <a:ext cx="15563679"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Nhận diện tốt các thực thể trong văn bản Tiếng Việt</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799980" y="1184235"/>
            <a:ext cx="16230600" cy="1029726"/>
          </a:xfrm>
          <a:prstGeom prst="rect">
            <a:avLst/>
          </a:prstGeom>
        </p:spPr>
        <p:txBody>
          <a:bodyPr anchor="t" rtlCol="false" tIns="0" lIns="0" bIns="0" rIns="0">
            <a:spAutoFit/>
          </a:bodyPr>
          <a:lstStyle/>
          <a:p>
            <a:pPr algn="ctr">
              <a:lnSpc>
                <a:spcPts val="8343"/>
              </a:lnSpc>
            </a:pPr>
            <a:r>
              <a:rPr lang="en-US" sz="5959" b="true">
                <a:solidFill>
                  <a:srgbClr val="FEFEFE"/>
                </a:solidFill>
                <a:latin typeface="Roboto Bold"/>
                <a:ea typeface="Roboto Bold"/>
                <a:cs typeface="Roboto Bold"/>
                <a:sym typeface="Roboto Bold"/>
              </a:rPr>
              <a:t> Hạn chế của thực nghiệm</a:t>
            </a:r>
          </a:p>
        </p:txBody>
      </p:sp>
      <p:sp>
        <p:nvSpPr>
          <p:cNvPr name="Freeform 4" id="4"/>
          <p:cNvSpPr/>
          <p:nvPr/>
        </p:nvSpPr>
        <p:spPr>
          <a:xfrm flipH="false" flipV="false" rot="5400000">
            <a:off x="1877764" y="3456738"/>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3037376" y="3345286"/>
            <a:ext cx="15334959"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 Dữ liệu dùng để huấn luyện chưa đủ đa dạng </a:t>
            </a:r>
          </a:p>
        </p:txBody>
      </p:sp>
      <p:sp>
        <p:nvSpPr>
          <p:cNvPr name="Freeform 6" id="6"/>
          <p:cNvSpPr/>
          <p:nvPr/>
        </p:nvSpPr>
        <p:spPr>
          <a:xfrm flipH="false" flipV="false" rot="5400000">
            <a:off x="1877764" y="4553318"/>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3037376" y="4441866"/>
            <a:ext cx="15563679"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Mô hình cần nhiều thời gian để huấn luyện, phần cứng tương đối mạnh</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sp>
        <p:nvSpPr>
          <p:cNvPr name="Freeform 2" id="2"/>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799980" y="1184235"/>
            <a:ext cx="16230600" cy="1029726"/>
          </a:xfrm>
          <a:prstGeom prst="rect">
            <a:avLst/>
          </a:prstGeom>
        </p:spPr>
        <p:txBody>
          <a:bodyPr anchor="t" rtlCol="false" tIns="0" lIns="0" bIns="0" rIns="0">
            <a:spAutoFit/>
          </a:bodyPr>
          <a:lstStyle/>
          <a:p>
            <a:pPr algn="ctr">
              <a:lnSpc>
                <a:spcPts val="8343"/>
              </a:lnSpc>
            </a:pPr>
            <a:r>
              <a:rPr lang="en-US" sz="5959" b="true">
                <a:solidFill>
                  <a:srgbClr val="FEFEFE"/>
                </a:solidFill>
                <a:latin typeface="Roboto Bold"/>
                <a:ea typeface="Roboto Bold"/>
                <a:cs typeface="Roboto Bold"/>
                <a:sym typeface="Roboto Bold"/>
              </a:rPr>
              <a:t>Hướng phát triển </a:t>
            </a:r>
          </a:p>
        </p:txBody>
      </p:sp>
      <p:sp>
        <p:nvSpPr>
          <p:cNvPr name="Freeform 4" id="4"/>
          <p:cNvSpPr/>
          <p:nvPr/>
        </p:nvSpPr>
        <p:spPr>
          <a:xfrm flipH="false" flipV="false" rot="5400000">
            <a:off x="1877764" y="3456738"/>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3037376" y="3345286"/>
            <a:ext cx="15334959" cy="606598"/>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Mở rộng bộ dữ liệu</a:t>
            </a:r>
          </a:p>
        </p:txBody>
      </p:sp>
      <p:sp>
        <p:nvSpPr>
          <p:cNvPr name="Freeform 6" id="6"/>
          <p:cNvSpPr/>
          <p:nvPr/>
        </p:nvSpPr>
        <p:spPr>
          <a:xfrm flipH="false" flipV="false" rot="5400000">
            <a:off x="1877764" y="4553318"/>
            <a:ext cx="625434" cy="554930"/>
          </a:xfrm>
          <a:custGeom>
            <a:avLst/>
            <a:gdLst/>
            <a:ahLst/>
            <a:cxnLst/>
            <a:rect r="r" b="b" t="t" l="l"/>
            <a:pathLst>
              <a:path h="554930" w="625434">
                <a:moveTo>
                  <a:pt x="0" y="0"/>
                </a:moveTo>
                <a:lnTo>
                  <a:pt x="625434" y="0"/>
                </a:lnTo>
                <a:lnTo>
                  <a:pt x="625434" y="554930"/>
                </a:lnTo>
                <a:lnTo>
                  <a:pt x="0" y="5549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3037376" y="4441866"/>
            <a:ext cx="13457936" cy="1225723"/>
          </a:xfrm>
          <a:prstGeom prst="rect">
            <a:avLst/>
          </a:prstGeom>
        </p:spPr>
        <p:txBody>
          <a:bodyPr anchor="t" rtlCol="false" tIns="0" lIns="0" bIns="0" rIns="0">
            <a:spAutoFit/>
          </a:bodyPr>
          <a:lstStyle/>
          <a:p>
            <a:pPr algn="l">
              <a:lnSpc>
                <a:spcPts val="4890"/>
              </a:lnSpc>
              <a:spcBef>
                <a:spcPct val="0"/>
              </a:spcBef>
            </a:pPr>
            <a:r>
              <a:rPr lang="en-US" sz="3493" spc="-69">
                <a:solidFill>
                  <a:srgbClr val="FEFEFE"/>
                </a:solidFill>
                <a:latin typeface="Roboto"/>
                <a:ea typeface="Roboto"/>
                <a:cs typeface="Roboto"/>
                <a:sym typeface="Roboto"/>
              </a:rPr>
              <a:t>Áp dụng mô hình để tích hợp vào các hệ thống thực tế như chatbot y tế, hệ thống hổ trợ chuẩn đoán,...</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143F6F"/>
        </a:solidFill>
      </p:bgPr>
    </p:bg>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C2F1"/>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500342" y="3134080"/>
            <a:ext cx="15287316" cy="3741678"/>
          </a:xfrm>
          <a:prstGeom prst="rect">
            <a:avLst/>
          </a:prstGeom>
        </p:spPr>
        <p:txBody>
          <a:bodyPr anchor="t" rtlCol="false" tIns="0" lIns="0" bIns="0" rIns="0">
            <a:spAutoFit/>
          </a:bodyPr>
          <a:lstStyle/>
          <a:p>
            <a:pPr algn="ctr">
              <a:lnSpc>
                <a:spcPts val="14640"/>
              </a:lnSpc>
            </a:pPr>
            <a:r>
              <a:rPr lang="en-US" sz="13189" b="true">
                <a:solidFill>
                  <a:srgbClr val="FEFEFE"/>
                </a:solidFill>
                <a:latin typeface="Garet Bold"/>
                <a:ea typeface="Garet Bold"/>
                <a:cs typeface="Garet Bold"/>
                <a:sym typeface="Garet Bold"/>
              </a:rPr>
              <a:t>Cảm ơn Thầy/Cô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DAGpl1sXwh8</dc:identifier>
  <dcterms:modified xsi:type="dcterms:W3CDTF">2011-08-01T06:04:30Z</dcterms:modified>
  <cp:revision>1</cp:revision>
  <dc:title>Blue White Professional Thesis Defense Presentation</dc:title>
</cp:coreProperties>
</file>